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Effort per new interface (days)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build</c:v>
                </c:pt>
              </c:strCache>
            </c:strRef>
          </c:tx>
          <c:spPr>
            <a:solidFill>
              <a:srgbClr val="AAB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Analysis + mapping</c:v>
                  </c:pt>
                  <c:pt idx="1">
                    <c:v>Pipeline code</c:v>
                  </c:pt>
                  <c:pt idx="2">
                    <c:v>Test + reconcile</c:v>
                  </c:pt>
                  <c:pt idx="3">
                    <c:v>Docs + PR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Pipeline Factory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Analysis + mapping</c:v>
                  </c:pt>
                  <c:pt idx="1">
                    <c:v>Pipeline code</c:v>
                  </c:pt>
                  <c:pt idx="2">
                    <c:v>Test + reconcile</c:v>
                  </c:pt>
                  <c:pt idx="3">
                    <c:v>Docs + PR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0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762000"/>
            <a:ext cx="762000" cy="1015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168301"/>
            <a:ext cx="4949592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Factory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34901" y="2011561"/>
            <a:ext cx="4949592" cy="913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contracts in.</a:t>
            </a:r>
            <a:endParaRPr lang="en-US" sz="1600" dirty="0"/>
          </a:p>
          <a:p>
            <a:pPr algn="l" indent="0" marL="0">
              <a:lnSpc>
                <a:spcPts val="2400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Governed, reconciled, evidence-backed ingestion pipelines out.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3814465"/>
            <a:ext cx="49495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0"/>
              </a:spcBef>
              <a:buNone/>
            </a:pPr>
            <a:r>
              <a:rPr lang="en-US" sz="100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App  |  Lakeflow Connect + Declarative Pipelines + Lakebase  | 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7442" y="0"/>
            <a:ext cx="3656558" cy="51435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68442" y="507950"/>
            <a:ext cx="2844701" cy="406301"/>
          </a:xfrm>
          <a:prstGeom prst="roundRect">
            <a:avLst>
              <a:gd name="adj" fmla="val 12503"/>
            </a:avLst>
          </a:prstGeom>
          <a:solidFill>
            <a:srgbClr val="2272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20842" y="634901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writes the spec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68442" y="1041202"/>
            <a:ext cx="2844701" cy="406301"/>
          </a:xfrm>
          <a:prstGeom prst="roundRect">
            <a:avLst>
              <a:gd name="adj" fmla="val 125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20842" y="1168152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drives behavior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68442" y="1574453"/>
            <a:ext cx="2844701" cy="406301"/>
          </a:xfrm>
          <a:prstGeom prst="roundRect">
            <a:avLst>
              <a:gd name="adj" fmla="val 125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20842" y="1701403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static engine executes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68442" y="2107704"/>
            <a:ext cx="2844701" cy="406301"/>
          </a:xfrm>
          <a:prstGeom prst="roundRect">
            <a:avLst>
              <a:gd name="adj" fmla="val 1250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20842" y="2234654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hold every gate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68442" y="2640955"/>
            <a:ext cx="2844701" cy="406301"/>
          </a:xfrm>
          <a:prstGeom prst="roundRect">
            <a:avLst>
              <a:gd name="adj" fmla="val 12503"/>
            </a:avLst>
          </a:prstGeom>
          <a:solidFill>
            <a:srgbClr val="2272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20842" y="2767905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reconciles itself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57200"/>
            <a:ext cx="80313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 new interface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4901" y="904875"/>
            <a:ext cx="507950" cy="634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171426"/>
            <a:ext cx="37567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manual work per source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901" y="1482477"/>
            <a:ext cx="3683050" cy="148857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re-type column lists from memory (a real Salesforce Account has ~70 fields, not the 6 someone recalled)</a:t>
            </a:r>
            <a:endParaRPr lang="en-US" sz="1150" dirty="0"/>
          </a:p>
          <a:p>
            <a:pPr algn="l" marL="88900" indent="-88900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source gets its own hand-written pipeline code</a:t>
            </a:r>
            <a:endParaRPr lang="en-US" sz="1150" dirty="0"/>
          </a:p>
          <a:p>
            <a:pPr algn="l" marL="88900" indent="-88900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documents drift from the code the day after go-live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1851" y="1171426"/>
            <a:ext cx="37567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risk compounds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1851" y="1482477"/>
            <a:ext cx="3683050" cy="124048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systematic source-to-target reconciliation, parity is assumed</a:t>
            </a:r>
            <a:endParaRPr lang="en-US" sz="1150" dirty="0"/>
          </a:p>
          <a:p>
            <a:pPr algn="l" marL="88900" indent="-88900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drift at the source is discovered in production</a:t>
            </a:r>
            <a:endParaRPr lang="en-US" sz="1150" dirty="0"/>
          </a:p>
          <a:p>
            <a:pPr algn="l" marL="88900" indent="-88900">
              <a:lnSpc>
                <a:spcPts val="1955"/>
              </a:lnSpc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Decommissioning is folklore: tables vanish or linger forever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1851" y="2900660"/>
            <a:ext cx="3683050" cy="6477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09951" y="2900660"/>
            <a:ext cx="0" cy="647700"/>
          </a:xfrm>
          <a:prstGeom prst="line">
            <a:avLst/>
          </a:prstGeom>
          <a:noFill/>
          <a:ln w="762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5752" y="3053060"/>
            <a:ext cx="33164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sources = N codebases</a:t>
            </a:r>
            <a:pPr algn="l" indent="0" marL="0"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review, test, patch and audit, forever.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57200"/>
            <a:ext cx="803137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idea: separate what changes from what executes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4901" y="1276350"/>
            <a:ext cx="507950" cy="634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568351"/>
            <a:ext cx="1816150" cy="2075557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4901" y="1596926"/>
            <a:ext cx="1816150" cy="0"/>
          </a:xfrm>
          <a:prstGeom prst="line">
            <a:avLst/>
          </a:prstGeom>
          <a:noFill/>
          <a:ln w="57150">
            <a:solidFill>
              <a:srgbClr val="2272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01" y="1803202"/>
            <a:ext cx="15415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for specs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7301" y="2095202"/>
            <a:ext cx="1541577" cy="118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reads the contract and proposes the mapping spec. It only ever produces structured specs and deltas, never code or files.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3450" y="1568351"/>
            <a:ext cx="1816001" cy="2075557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603450" y="1596926"/>
            <a:ext cx="1816001" cy="0"/>
          </a:xfrm>
          <a:prstGeom prst="line">
            <a:avLst/>
          </a:prstGeom>
          <a:noFill/>
          <a:ln w="57150">
            <a:solidFill>
              <a:srgbClr val="2272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5850" y="1803202"/>
            <a:ext cx="1541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for behavior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55850" y="2285702"/>
            <a:ext cx="1541425" cy="118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source contributes one row per entity in ctl.dataflow_spec plus a metadata-only PR. Nothing to code-review, nothing to drift.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1851" y="1568351"/>
            <a:ext cx="1816150" cy="2075557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1851" y="1596926"/>
            <a:ext cx="1816150" cy="0"/>
          </a:xfrm>
          <a:prstGeom prst="line">
            <a:avLst/>
          </a:prstGeom>
          <a:noFill/>
          <a:ln w="57150">
            <a:solidFill>
              <a:srgbClr val="2272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4251" y="1803202"/>
            <a:ext cx="15415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static engine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24251" y="2095202"/>
            <a:ext cx="1541577" cy="98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semver-versioned framework executes every source: transforms, data quality, recon, logging, drift.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40401" y="1568351"/>
            <a:ext cx="1816001" cy="2075557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540401" y="1596926"/>
            <a:ext cx="1816001" cy="0"/>
          </a:xfrm>
          <a:prstGeom prst="line">
            <a:avLst/>
          </a:prstGeom>
          <a:noFill/>
          <a:ln w="57150">
            <a:solidFill>
              <a:srgbClr val="2272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2801" y="1803202"/>
            <a:ext cx="1541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at gates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92801" y="2095202"/>
            <a:ext cx="1541425" cy="98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spec. Merge the PR. Confirm any decommission. Nothing irreversible happens on model output alone.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4901" y="3897809"/>
            <a:ext cx="7873901" cy="555427"/>
          </a:xfrm>
          <a:prstGeom prst="roundRect">
            <a:avLst>
              <a:gd name="adj" fmla="val 9146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3501" y="4075509"/>
            <a:ext cx="75650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marginal cost of source #2 is a YAML file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not a codebase.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5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the factory and the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784175"/>
            <a:ext cx="507950" cy="634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25277"/>
            <a:ext cx="1530548" cy="1339453"/>
          </a:xfrm>
          <a:prstGeom prst="roundRect">
            <a:avLst>
              <a:gd name="adj" fmla="val 4741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152227"/>
            <a:ext cx="13021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4901" y="1399877"/>
            <a:ext cx="1302181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system. OAuth-consented UC connection for ingestion, describe-only REST for discovery and drift.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2165449" y="1025277"/>
            <a:ext cx="2095351" cy="1339453"/>
          </a:xfrm>
          <a:prstGeom prst="roundRect">
            <a:avLst>
              <a:gd name="adj" fmla="val 4741"/>
            </a:avLst>
          </a:prstGeom>
          <a:solidFill>
            <a:srgbClr val="2272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92400" y="1152227"/>
            <a:ext cx="18782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Factory app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92400" y="1399877"/>
            <a:ext cx="1878279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intake + schema discovery, LLM spec generation, approval gate, provisioner, build console, evidence, dashboards. State in Lakebase Postgres (ms reads).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387751" y="1025277"/>
            <a:ext cx="2463701" cy="1339453"/>
          </a:xfrm>
          <a:prstGeom prst="roundRect">
            <a:avLst>
              <a:gd name="adj" fmla="val 474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14701" y="1152227"/>
            <a:ext cx="22539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Lakeflow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14701" y="1399877"/>
            <a:ext cx="2253996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source: brnz_ingest (Lakeflow Connect), slvr_etl (Declarative Pipeline running the shared engine), workflow (drift, ingest, etl, log, recon). Unity Catalog governs all of it.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978402" y="1025277"/>
            <a:ext cx="1530548" cy="1339453"/>
          </a:xfrm>
          <a:prstGeom prst="roundRect">
            <a:avLst>
              <a:gd name="adj" fmla="val 4741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05352" y="1152227"/>
            <a:ext cx="13021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05352" y="1399877"/>
            <a:ext cx="1302181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8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repo (engine, semver). Metadata repo: per-source PRs carry zero code, CI checks manifests.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7950" y="2567880"/>
            <a:ext cx="8127950" cy="933896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6525" y="2567880"/>
            <a:ext cx="0" cy="933896"/>
          </a:xfrm>
          <a:prstGeom prst="line">
            <a:avLst/>
          </a:prstGeom>
          <a:noFill/>
          <a:ln w="57150">
            <a:solidFill>
              <a:srgbClr val="2272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801" y="2694831"/>
            <a:ext cx="7869707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flow:</a:t>
            </a:r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upload contract → discover live schema → LLM emits spec → human approves (gate 1) → renderer emits metadata → MERGE to ctl.dataflow_spec → provisioner ensures Lakeflow assets → workflow runs and reconciles → PR with evidence → human merges (gate 2) → CI promotes.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04800"/>
            <a:ext cx="818682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click: what the Build actually does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58701" y="679400"/>
            <a:ext cx="507950" cy="634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869752"/>
            <a:ext cx="2666851" cy="651570"/>
          </a:xfrm>
          <a:prstGeom prst="roundRect">
            <a:avLst>
              <a:gd name="adj" fmla="val 7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51" y="958602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 Render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651" y="1126778"/>
            <a:ext cx="2461209" cy="305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86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templates emit metadata files only. Golden-file tests gate any format change.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3352502" y="869752"/>
            <a:ext cx="2666851" cy="651570"/>
          </a:xfrm>
          <a:prstGeom prst="roundRect">
            <a:avLst>
              <a:gd name="adj" fmla="val 7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79453" y="958602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 Branch + commit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9453" y="1126778"/>
            <a:ext cx="2461209" cy="305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86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Metadata-only commit. There is no per-source code that could drift.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558701" y="1622822"/>
            <a:ext cx="2666851" cy="651570"/>
          </a:xfrm>
          <a:prstGeom prst="roundRect">
            <a:avLst>
              <a:gd name="adj" fmla="val 7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651" y="1711672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 Spec upsert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651" y="1879848"/>
            <a:ext cx="2461209" cy="305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86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into ctl.dataflow_spec, seed batch and job config (operator edits survive).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352502" y="1622822"/>
            <a:ext cx="2666851" cy="651570"/>
          </a:xfrm>
          <a:prstGeom prst="roundRect">
            <a:avLst>
              <a:gd name="adj" fmla="val 7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79453" y="1711672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 Provision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9453" y="1879848"/>
            <a:ext cx="2461209" cy="305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86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create/update of ingestion pipeline, ETL pipeline and workflow by name.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558701" y="2375892"/>
            <a:ext cx="2666851" cy="651570"/>
          </a:xfrm>
          <a:prstGeom prst="roundRect">
            <a:avLst>
              <a:gd name="adj" fmla="val 7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5651" y="2464743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 Run workflow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651" y="2632918"/>
            <a:ext cx="2461209" cy="305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86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drift_check, ingest, etl, log_run, recon - the same graph every scheduled run uses.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3352502" y="2375892"/>
            <a:ext cx="2666851" cy="651570"/>
          </a:xfrm>
          <a:prstGeom prst="roundRect">
            <a:avLst>
              <a:gd name="adj" fmla="val 7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79453" y="2464743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 Test + reconcile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9453" y="2632918"/>
            <a:ext cx="2461209" cy="305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86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expectations, then row-by-row key / row / attribute match rates.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558701" y="3128963"/>
            <a:ext cx="8134350" cy="609302"/>
          </a:xfrm>
          <a:prstGeom prst="roundRect">
            <a:avLst>
              <a:gd name="adj" fmla="val 8337"/>
            </a:avLst>
          </a:prstGeom>
          <a:solidFill>
            <a:srgbClr val="FFF4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87276" y="3128963"/>
            <a:ext cx="0" cy="609302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251" y="3243263"/>
            <a:ext cx="7927848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7A4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PR with evidence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7A4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counts, match rates, DQ results in EVIDENCE.md. On failure: bounded fix loop, at most 3 LLM spec-deltas, then escalate to a human with the full trail.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06301"/>
            <a:ext cx="8186827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Databricks primitives - nothing bespoke to operate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1161901"/>
            <a:ext cx="507950" cy="634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1403003"/>
            <a:ext cx="1236315" cy="810816"/>
          </a:xfrm>
          <a:prstGeom prst="roundRect">
            <a:avLst>
              <a:gd name="adj" fmla="val 6265"/>
            </a:avLst>
          </a:prstGeom>
          <a:solidFill>
            <a:srgbClr val="2272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3001" y="1504504"/>
            <a:ext cx="1027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drift_check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73001" y="1685479"/>
            <a:ext cx="1027870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schema vs contract, policy warn / fail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96517" y="1403003"/>
            <a:ext cx="1236166" cy="810816"/>
          </a:xfrm>
          <a:prstGeom prst="roundRect">
            <a:avLst>
              <a:gd name="adj" fmla="val 626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10817" y="1504504"/>
            <a:ext cx="10277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0817" y="1685479"/>
            <a:ext cx="102771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Lakeflow Connect managed sync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34184" y="1403003"/>
            <a:ext cx="1236315" cy="810816"/>
          </a:xfrm>
          <a:prstGeom prst="roundRect">
            <a:avLst>
              <a:gd name="adj" fmla="val 626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48484" y="1504504"/>
            <a:ext cx="1027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48484" y="1685479"/>
            <a:ext cx="102787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builds silver + DQ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1403003"/>
            <a:ext cx="1236166" cy="810816"/>
          </a:xfrm>
          <a:prstGeom prst="roundRect">
            <a:avLst>
              <a:gd name="adj" fmla="val 626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86300" y="1504504"/>
            <a:ext cx="10277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log_run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86300" y="1685479"/>
            <a:ext cx="102771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to ctl.ingestion_runs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09667" y="1403003"/>
            <a:ext cx="1236166" cy="810816"/>
          </a:xfrm>
          <a:prstGeom prst="roundRect">
            <a:avLst>
              <a:gd name="adj" fmla="val 6265"/>
            </a:avLst>
          </a:prstGeom>
          <a:solidFill>
            <a:srgbClr val="2272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23967" y="1504504"/>
            <a:ext cx="10277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23967" y="1685479"/>
            <a:ext cx="102771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vs target rates + diffs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247334" y="1403003"/>
            <a:ext cx="1236166" cy="810816"/>
          </a:xfrm>
          <a:prstGeom prst="roundRect">
            <a:avLst>
              <a:gd name="adj" fmla="val 626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61634" y="1504504"/>
            <a:ext cx="10277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sync_N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61634" y="1685479"/>
            <a:ext cx="102771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replicas refresh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8701" y="2391519"/>
            <a:ext cx="2535882" cy="1441252"/>
          </a:xfrm>
          <a:prstGeom prst="roundRect">
            <a:avLst>
              <a:gd name="adj" fmla="val 35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58701" y="2415332"/>
            <a:ext cx="2535882" cy="0"/>
          </a:xfrm>
          <a:prstGeom prst="line">
            <a:avLst/>
          </a:prstGeom>
          <a:noFill/>
          <a:ln w="47625">
            <a:solidFill>
              <a:srgbClr val="2272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101" y="2566095"/>
            <a:ext cx="2275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brnz_{src}_ingest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1101" y="2800945"/>
            <a:ext cx="2275704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Lakeflow Connect ingestion pipeline. Connector owns cursoring (SystemModstamp), SCD 1/2, soft deletes, schema evolution. Columns = exactly what the contract selected.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34184" y="2391519"/>
            <a:ext cx="2535734" cy="1441252"/>
          </a:xfrm>
          <a:prstGeom prst="roundRect">
            <a:avLst>
              <a:gd name="adj" fmla="val 35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234184" y="2415332"/>
            <a:ext cx="2535734" cy="0"/>
          </a:xfrm>
          <a:prstGeom prst="line">
            <a:avLst/>
          </a:prstGeom>
          <a:noFill/>
          <a:ln w="47625">
            <a:solidFill>
              <a:srgbClr val="2272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6584" y="2566095"/>
            <a:ext cx="22755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slvr_{src}_etl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86584" y="2800945"/>
            <a:ext cx="227555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Pipeline running the shared engine. Transforms, expectations and crosswalk all come from dataflow_spec metadata at runtime.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09518" y="2391519"/>
            <a:ext cx="2535882" cy="1441252"/>
          </a:xfrm>
          <a:prstGeom prst="roundRect">
            <a:avLst>
              <a:gd name="adj" fmla="val 35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909518" y="2415332"/>
            <a:ext cx="2535882" cy="0"/>
          </a:xfrm>
          <a:prstGeom prst="line">
            <a:avLst/>
          </a:prstGeom>
          <a:noFill/>
          <a:ln w="47625">
            <a:solidFill>
              <a:srgbClr val="2272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61918" y="2566095"/>
            <a:ext cx="2275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{src}_workflow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061918" y="2800945"/>
            <a:ext cx="227570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Lakeflow Job on the contract cron. Retries, notifications, SLA and pause state are config-table-driven and editable live from the app.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68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LLM collapses build time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784175"/>
            <a:ext cx="507950" cy="634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999976"/>
            <a:ext cx="3174950" cy="256698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38"/>
              </a:lnSpc>
              <a:buSzPct val="100000"/>
              <a:buChar char="•"/>
            </a:pPr>
            <a:r>
              <a:rPr lang="en-US" sz="10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spec:</a:t>
            </a:r>
            <a:pPr algn="l" indent="0" marL="0">
              <a:lnSpc>
                <a:spcPts val="1838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minutes, not days - generated from the contract, human reviews instead of authors</a:t>
            </a:r>
            <a:endParaRPr lang="en-US" sz="1050" dirty="0"/>
          </a:p>
          <a:p>
            <a:pPr algn="l" marL="88900" indent="-88900">
              <a:lnSpc>
                <a:spcPts val="1838"/>
              </a:lnSpc>
              <a:buSzPct val="100000"/>
              <a:buChar char="•"/>
            </a:pPr>
            <a:r>
              <a:rPr lang="en-US" sz="10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code:</a:t>
            </a:r>
            <a:pPr algn="l" indent="0" marL="0">
              <a:lnSpc>
                <a:spcPts val="1838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 - metadata replaces per-source code entirely</a:t>
            </a:r>
            <a:endParaRPr lang="en-US" sz="1050" dirty="0"/>
          </a:p>
          <a:p>
            <a:pPr algn="l" marL="88900" indent="-88900">
              <a:lnSpc>
                <a:spcPts val="1838"/>
              </a:lnSpc>
              <a:buSzPct val="100000"/>
              <a:buChar char="•"/>
            </a:pPr>
            <a:r>
              <a:rPr lang="en-US" sz="10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+ recon:</a:t>
            </a:r>
            <a:pPr algn="l" indent="0" marL="0">
              <a:lnSpc>
                <a:spcPts val="1838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 on every run, not a manual QA phase</a:t>
            </a:r>
            <a:endParaRPr lang="en-US" sz="1050" dirty="0"/>
          </a:p>
          <a:p>
            <a:pPr algn="l" marL="88900" indent="-88900">
              <a:lnSpc>
                <a:spcPts val="1838"/>
              </a:lnSpc>
              <a:buSzPct val="100000"/>
              <a:buChar char="•"/>
            </a:pPr>
            <a:r>
              <a:rPr lang="en-US" sz="10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+ evidence:</a:t>
            </a:r>
            <a:pPr algn="l" indent="0" marL="0">
              <a:lnSpc>
                <a:spcPts val="1838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PR writes itself with proof attached</a:t>
            </a:r>
            <a:endParaRPr lang="en-US" sz="1050" dirty="0"/>
          </a:p>
          <a:p>
            <a:pPr algn="l" marL="88900" indent="-88900">
              <a:lnSpc>
                <a:spcPts val="1838"/>
              </a:lnSpc>
              <a:buSzPct val="100000"/>
              <a:buChar char="•"/>
            </a:pPr>
            <a:r>
              <a:rPr lang="en-US" sz="10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Fixes:</a:t>
            </a:r>
            <a:pPr algn="l" indent="0" marL="0">
              <a:lnSpc>
                <a:spcPts val="1838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failure evidence loops back as spec deltas, max 3 tries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58701" y="3719364"/>
            <a:ext cx="3174950" cy="596801"/>
          </a:xfrm>
          <a:prstGeom prst="roundRect">
            <a:avLst>
              <a:gd name="adj" fmla="val 8512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402" y="3846314"/>
            <a:ext cx="28759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per interface → </a:t>
            </a:r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dominated by human review, not construction.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936802" y="999976"/>
          <a:ext cx="4572000" cy="3174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06301"/>
            <a:ext cx="81868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Governance: three human gates, zero silent actions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809476"/>
            <a:ext cx="507950" cy="634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1076027"/>
            <a:ext cx="2523083" cy="129510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8701" y="1104602"/>
            <a:ext cx="2523083" cy="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272778"/>
            <a:ext cx="22626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1 - Approve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1101" y="1507629"/>
            <a:ext cx="226264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walks mappings, transforms, DQ rules and PII flags; edits persist as a new spec version before anything is provisioned.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34184" y="1076027"/>
            <a:ext cx="2522934" cy="129510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4184" y="1104602"/>
            <a:ext cx="2522934" cy="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6584" y="1272778"/>
            <a:ext cx="22624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2 - Merge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6584" y="1507629"/>
            <a:ext cx="226249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metadata-only PR ships with EVIDENCE.md: counts, match rates, DQ outcomes. CI validates manifest checksums.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09518" y="1076027"/>
            <a:ext cx="2523083" cy="129510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09518" y="1104602"/>
            <a:ext cx="2523083" cy="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1918" y="1272778"/>
            <a:ext cx="22626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3 - Decommission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61918" y="1507629"/>
            <a:ext cx="226264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Typed-confirmation tombstone. Spec rows are never deleted; a drop-guard makes silent table drops impossible.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8701" y="2523530"/>
            <a:ext cx="8083302" cy="882104"/>
          </a:xfrm>
          <a:prstGeom prst="roundRect">
            <a:avLst>
              <a:gd name="adj" fmla="val 57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7276" y="2523530"/>
            <a:ext cx="0" cy="882104"/>
          </a:xfrm>
          <a:prstGeom prst="line">
            <a:avLst/>
          </a:prstGeom>
          <a:noFill/>
          <a:ln w="57150">
            <a:solidFill>
              <a:srgbClr val="1C28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552" y="2650480"/>
            <a:ext cx="7824165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non-negotiable: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credentials only in secret scopes and UC connections, never in contracts, code or git | every LLM prompt and response stored and visible in the app | scheduled runs are token-free | every asset tagged with its spec and contract id | PII columns get UC tags at build.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06301"/>
            <a:ext cx="81868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every run proves itself (live numbers)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809476"/>
            <a:ext cx="507950" cy="634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1076027"/>
            <a:ext cx="1854250" cy="1118146"/>
          </a:xfrm>
          <a:prstGeom prst="roundRect">
            <a:avLst>
              <a:gd name="adj" fmla="val 4543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228427"/>
            <a:ext cx="15804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= 38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1101" y="1561802"/>
            <a:ext cx="15804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rows vs silver rows on the first governed run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5350" y="1076027"/>
            <a:ext cx="1854101" cy="1118146"/>
          </a:xfrm>
          <a:prstGeom prst="roundRect">
            <a:avLst>
              <a:gd name="adj" fmla="val 4543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17750" y="1228427"/>
            <a:ext cx="158028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17750" y="1561802"/>
            <a:ext cx="15802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key, row and attribute match rates, computed row-by-row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1851" y="1076027"/>
            <a:ext cx="1854250" cy="1118146"/>
          </a:xfrm>
          <a:prstGeom prst="roundRect">
            <a:avLst>
              <a:gd name="adj" fmla="val 4543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24251" y="1228427"/>
            <a:ext cx="15804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24251" y="1561802"/>
            <a:ext cx="158043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events logged: live org fields the contract chose not to ingest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78501" y="1076027"/>
            <a:ext cx="1854101" cy="1118146"/>
          </a:xfrm>
          <a:prstGeom prst="roundRect">
            <a:avLst>
              <a:gd name="adj" fmla="val 4543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30901" y="1228427"/>
            <a:ext cx="158028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30901" y="1561802"/>
            <a:ext cx="15802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credentials used by the 3 AM scheduled run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8701" y="2371874"/>
            <a:ext cx="8083302" cy="1185863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7276" y="2371874"/>
            <a:ext cx="0" cy="1185863"/>
          </a:xfrm>
          <a:prstGeom prst="line">
            <a:avLst/>
          </a:prstGeom>
          <a:noFill/>
          <a:ln w="57150">
            <a:solidFill>
              <a:srgbClr val="2272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552" y="2511475"/>
            <a:ext cx="782416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workflow run - build-triggered, cron or manual - writes </a:t>
            </a:r>
            <a:pPr algn="l" indent="0" marL="0">
              <a:lnSpc>
                <a:spcPts val="1785"/>
              </a:lnSpc>
              <a:buNone/>
            </a:pPr>
            <a:r>
              <a:rPr lang="en-US" sz="10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ctl.ingestion_runs</a:t>
            </a:r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(bronze/silver counts, trigger type) and full recon results keyed by the same run id, with the app completely out of the loop. Change-data-feed synced tables stream it into Lakebase Postgres, so the Reconciliation dashboard answers in milliseconds: runs, row deltas, parity trends, SLA breaches, record-level diffs.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06301"/>
            <a:ext cx="81868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Day-2 operations, built in from day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809476"/>
            <a:ext cx="507950" cy="634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1076027"/>
            <a:ext cx="2793950" cy="1166068"/>
          </a:xfrm>
          <a:prstGeom prst="roundRect">
            <a:avLst>
              <a:gd name="adj" fmla="val 4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202978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control plane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1101" y="1406128"/>
            <a:ext cx="2538933" cy="531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3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Cron, pause, retries, SLA, notifications, drift policy live in ctl.batch_config - edited in Settings, applied to live jobs without a rebuild.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3505051" y="1076027"/>
            <a:ext cx="2793950" cy="1166068"/>
          </a:xfrm>
          <a:prstGeom prst="roundRect">
            <a:avLst>
              <a:gd name="adj" fmla="val 4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7451" y="1202978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drift gate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451" y="1406128"/>
            <a:ext cx="2538933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3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task of every run compares the live source schema to the contract. Policy warn records events; fail halts the chain before bad data lands.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58701" y="2394496"/>
            <a:ext cx="2793950" cy="988814"/>
          </a:xfrm>
          <a:prstGeom prst="roundRect">
            <a:avLst>
              <a:gd name="adj" fmla="val 5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1101" y="2521446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refresh / backfill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1101" y="2724596"/>
            <a:ext cx="2538933" cy="531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3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confirmation resets watermarks and full-refreshes both pipelines - the standard answer to hard deletes and replays.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505051" y="2394496"/>
            <a:ext cx="2793950" cy="988814"/>
          </a:xfrm>
          <a:prstGeom prst="roundRect">
            <a:avLst>
              <a:gd name="adj" fmla="val 5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57451" y="2521446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+ audit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451" y="2724596"/>
            <a:ext cx="2538933" cy="531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3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to workflow graph per entity via API; every asset traceable to spec, contract and the exact LLM prompts that produced it.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558701" y="3535710"/>
            <a:ext cx="2793950" cy="1166068"/>
          </a:xfrm>
          <a:prstGeom prst="roundRect">
            <a:avLst>
              <a:gd name="adj" fmla="val 4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1101" y="3662660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state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1101" y="3865811"/>
            <a:ext cx="2538933" cy="531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3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Lakebase Postgres for ms reads with per-call warehouse fallback - a database outage degrades, never breaks.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505051" y="3535710"/>
            <a:ext cx="2793950" cy="1166068"/>
          </a:xfrm>
          <a:prstGeom prst="roundRect">
            <a:avLst>
              <a:gd name="adj" fmla="val 4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57451" y="3662660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7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catalog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451" y="3865811"/>
            <a:ext cx="2538933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30" dirty="0">
                <a:solidFill>
                  <a:srgbClr val="5F7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managed connectors, P2 Auto Loader files, P3 pre-landed Delta, CDC and streaming reserved - one decision table, no design meetings.</a:t>
            </a:r>
            <a:endParaRPr lang="en-US" sz="9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279350"/>
            <a:ext cx="818682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1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demo (25 minutes)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58701" y="653951"/>
            <a:ext cx="507950" cy="634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844302"/>
            <a:ext cx="4089202" cy="35242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302" y="920502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52202" y="920502"/>
            <a:ext cx="3393897" cy="165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C4 diagrams rendered inside the app itself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558701" y="1285577"/>
            <a:ext cx="4089202" cy="483096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8302" y="1361777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2202" y="1361777"/>
            <a:ext cx="3393897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intake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upload YAML, discover the real 70-field schema, prune to 6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58701" y="1857524"/>
            <a:ext cx="4089202" cy="483096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8302" y="1933724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52202" y="1933724"/>
            <a:ext cx="3393897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review LLM mappings and DQ rules, apply a reviewer edit, approve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58701" y="2429470"/>
            <a:ext cx="4089202" cy="483096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8302" y="2505670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2202" y="2505670"/>
            <a:ext cx="3393897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watch pipelines and the workflow appear, run, test and reconcile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558701" y="3001417"/>
            <a:ext cx="4089202" cy="483096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8302" y="3077617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2202" y="3077617"/>
            <a:ext cx="3393897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- 100% recon, DQ table, exact prompts, PR on GitHub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58701" y="3573363"/>
            <a:ext cx="4089202" cy="483096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8302" y="3649563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2202" y="3649563"/>
            <a:ext cx="3393897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AM story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insert 5 Salesforce rows, run from Databricks with the app closed, dashboard shows +5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558701" y="4145310"/>
            <a:ext cx="4089202" cy="483096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8302" y="4221510"/>
            <a:ext cx="2589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2202" y="4221510"/>
            <a:ext cx="3393897" cy="3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live schedule edit, drift policy, full refresh, decommission gate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88950"/>
            <a:ext cx="762000" cy="1015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295251"/>
            <a:ext cx="77724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contract file became a governed pipeline, a scheduled workflow that proves itself, and an auditable PR.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5813" y="3168402"/>
            <a:ext cx="0" cy="853083"/>
          </a:xfrm>
          <a:prstGeom prst="line">
            <a:avLst/>
          </a:prstGeom>
          <a:noFill/>
          <a:ln w="47625">
            <a:solidFill>
              <a:srgbClr val="2272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6575" y="3168402"/>
            <a:ext cx="2231529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pPr algn="l" indent="0" marL="0">
              <a:lnSpc>
                <a:spcPts val="1680"/>
              </a:lnSpc>
              <a:buNone/>
            </a:pP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build time from weeks to hours - construction is generated, humans only review.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25862" y="3168402"/>
            <a:ext cx="0" cy="853083"/>
          </a:xfrm>
          <a:prstGeom prst="line">
            <a:avLst/>
          </a:prstGeom>
          <a:noFill/>
          <a:ln w="47625">
            <a:solidFill>
              <a:srgbClr val="2272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6625" y="3168402"/>
            <a:ext cx="2231377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</a:t>
            </a:r>
            <a:pPr algn="l" indent="0" marL="0">
              <a:lnSpc>
                <a:spcPts val="1680"/>
              </a:lnSpc>
              <a:buNone/>
            </a:pP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human gates, tombstoned metadata, zero standing credentials, prompts on the record.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65763" y="3168402"/>
            <a:ext cx="0" cy="853083"/>
          </a:xfrm>
          <a:prstGeom prst="line">
            <a:avLst/>
          </a:prstGeom>
          <a:noFill/>
          <a:ln w="47625">
            <a:solidFill>
              <a:srgbClr val="2272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16526" y="3168402"/>
            <a:ext cx="2231529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Provable</a:t>
            </a:r>
            <a:pPr algn="l" indent="0" marL="0">
              <a:lnSpc>
                <a:spcPts val="1680"/>
              </a:lnSpc>
              <a:buNone/>
            </a:pP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Source-to-target reconciliation and drift detection on every single run.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Factory - Contracts to Governed Pipelines</dc:title>
  <dc:subject>PptxGenJS Presentation</dc:subject>
  <dc:creator>Pipeline Factory</dc:creator>
  <cp:lastModifiedBy>Pipeline Factory</cp:lastModifiedBy>
  <cp:revision>1</cp:revision>
  <dcterms:created xsi:type="dcterms:W3CDTF">2026-07-15T00:21:41Z</dcterms:created>
  <dcterms:modified xsi:type="dcterms:W3CDTF">2026-07-15T00:21:41Z</dcterms:modified>
</cp:coreProperties>
</file>