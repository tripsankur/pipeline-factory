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REHEARSAL CHECKLIST (from Speaker-Notes.md — read before you walk out)</a:t>
            </a:r>
          </a:p>
          <a:p>
            <a:r>
              <a:t>- Trimmed 12-min version, built to land ~11:30. Full 15-min master exists separately for a longer slot.</a:t>
            </a:r>
          </a:p>
          <a:p>
            <a:r>
              <a:t>- Walk out, find one person, start talking — no greeting, no talking to the title slide/logo.</a:t>
            </a:r>
          </a:p>
          <a:p>
            <a:r>
              <a:t>- Protect both [slow down] beats (Slide WHY door line, Slide HOW pivot line) and the Slide WHY show-of-hands pause.</a:t>
            </a:r>
          </a:p>
          <a:p>
            <a:r>
              <a:t>- Keep the BENEFIT-slide callback wording close to the hook so the return is recognised.</a:t>
            </a:r>
          </a:p>
          <a:p>
            <a:r>
              <a:t>- Metrics flagged for Media confirmation: 10+ TB, 100+ search screens, 50+ active users, ~10 releases, 48-hour SLA, GA May 2025 / production Aug 2025.</a:t>
            </a:r>
          </a:p>
          <a:p/>
          <a:p>
            <a:r>
              <a:t>OPENING HOOK (~0:30) — on-screen: title slide only.</a:t>
            </a:r>
          </a:p>
          <a:p/>
          <a:p>
            <a:r>
              <a:t>“Somewhere in our business right now, there's a person with an urgent question. It has a deadline. And every hour it waits, it matters.</a:t>
            </a:r>
          </a:p>
          <a:p/>
          <a:p>
            <a:r>
              <a:t>The answer they need is sitting inside ten terabytes of data — data we had just locked down. Beautifully governed. Tightly secured. And completely out of their reach.</a:t>
            </a:r>
          </a:p>
          <a:p/>
          <a:p>
            <a:r>
              <a:t>To get one answer, they'd raise a ticket, wait for an engineer, and lose days.</a:t>
            </a:r>
          </a:p>
          <a:p/>
          <a:p>
            <a:r>
              <a:t>[pause]</a:t>
            </a:r>
          </a:p>
          <a:p/>
          <a:p>
            <a:r>
              <a:t>Today, that same person answers it themselves. Before lunch. No SQL. No ticket.</a:t>
            </a:r>
          </a:p>
          <a:p/>
          <a:p>
            <a:r>
              <a:t>Here's how we closed that gap — and why it started as a five-minute idea.”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~2:00</a:t>
            </a:r>
          </a:p>
          <a:p/>
          <a:p>
            <a:r>
              <a:t>“Quick show of hands. How many of you have built something you were genuinely proud of — governed, locked down, secure — and then watched the business struggle to actually use it?</a:t>
            </a:r>
          </a:p>
          <a:p/>
          <a:p>
            <a:r>
              <a:t>[let hands go up, smile]</a:t>
            </a:r>
          </a:p>
          <a:p/>
          <a:p>
            <a:r>
              <a:t>Hold on to that feeling. That trap — governed data the business still can't use — is exactly the one we were determined to design out from the start.</a:t>
            </a:r>
          </a:p>
          <a:p/>
          <a:p>
            <a:r>
              <a:t>We'd built something that mattered: a strategic platform on Azure Databricks, to retain and archive data from systems that were ageing out — end of life, end of support. And we pulled it off. Ten-plus terabytes moved across, structured and unstructured, every control in place.</a:t>
            </a:r>
          </a:p>
          <a:p/>
          <a:p>
            <a:r>
              <a:t>Because securing and governing that data was always the first job — that was the mandate, and the right one. But it was never the whole plan. The harder part was always going to be this: how do you open that data up to the people who need it — a non-technical operations team, working to real deadlines, who don't write SQL and don't live in Databricks — without giving up a single thing you'd just locked down?</a:t>
            </a:r>
          </a:p>
          <a:p/>
          <a:p>
            <a:r>
              <a:t>A vault is only useful if the right people can walk in. That door was always part of the plan — and it was the real design challenge.</a:t>
            </a:r>
          </a:p>
          <a:p/>
          <a:p>
            <a:r>
              <a:t>The easy fix was obvious. Bolt a portal on the side — its own login, its own copy of the data. Everyone in this room has done it at least once. We didn't want to do it again. So we asked a better question. What if we never had to build a bolt-on portal again?”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~1:30</a:t>
            </a:r>
          </a:p>
          <a:p/>
          <a:p>
            <a:r>
              <a:t>“The answer showed up at an Innovation Day. Five minutes on the clock. One pitch.</a:t>
            </a:r>
          </a:p>
          <a:p/>
          <a:p>
            <a:r>
              <a:t>The idea was almost annoyingly simple. Stop building applications next to the platform. Build the interface on the platform — where the data already lives, inside the governance we'd already fought to get right.</a:t>
            </a:r>
          </a:p>
          <a:p/>
          <a:p>
            <a:r>
              <a:t>So we built a small, focused prototype. Honestly? It didn't do much yet. But it did one thing that mattered. A business user could log in, run a search, and see governed data — and not a single row they weren't already allowed to see. No second copy. No new security model to argue about. It just worked.</a:t>
            </a:r>
          </a:p>
          <a:p/>
          <a:p>
            <a:r>
              <a:t>We put that rough little prototype in front of the business. They didn't need convincing. We called it EDEN.”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~2:30</a:t>
            </a:r>
          </a:p>
          <a:p/>
          <a:p>
            <a:r>
              <a:t>“EDEN is a governed, production app that lives on the platform. What it gives a business user is simple. Ask questions of regulated data — structured and unstructured — on simple search screens. No SQL. No ticket.</a:t>
            </a:r>
          </a:p>
          <a:p/>
          <a:p>
            <a:r>
              <a:t>Picture that person with the deadline. They open a screen, pick a couple of filters from a dropdown, and run a search. No code, ever. If it's a heavier question, EDEN quietly spins up compute in the background and just handles it. They can preview documents and files, and export what they find. And they only ever see what their role allows — everyone gets their own set of screens.</a:t>
            </a:r>
          </a:p>
          <a:p/>
          <a:p>
            <a:r>
              <a:t>Here's the part I'm proudest of. [slow down] Every one of those screens is built from configuration, not code. EDEN lays raw data — structured, unstructured, messy — onto a clean screen, following a set pattern for how things get labelled, filtered and shown. Change the configuration, and you've changed the screen.</a:t>
            </a:r>
          </a:p>
          <a:p/>
          <a:p>
            <a:r>
              <a:t>And because the app lives on the platform, it borrows the platform's security wholesale. No middleware. No separate login. No copy of the data — nothing duplicated, nothing extra to secure. Every action runs as the user themselves. So the question — 'should this person be allowed to see this?' — is already answered. Every single time.</a:t>
            </a:r>
          </a:p>
          <a:p/>
          <a:p>
            <a:r>
              <a:t>You've just heard how Databricks makes that possible under the hood — the on-behalf-of authorisation, the Unity Catalog governance. From the builder's seat, here's what it meant. The app got to own the experience. The platform kept owning the security. That one split saved us from a whole world of risk and rework.”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~2:30</a:t>
            </a:r>
          </a:p>
          <a:p/>
          <a:p>
            <a:r>
              <a:t>“Here's the part that still surprises me. Databricks Apps only went generally available in May 2025. By August — three months later — EDEN was live in production, running for a regulated business.</a:t>
            </a:r>
          </a:p>
          <a:p/>
          <a:p>
            <a:r>
              <a:t>And we haven't stopped since. Close to ten releases, each one leaning harder on the platform than the last. Automated pipelines so releases were clean. The user's own identity on every query. A 48-hour support turnaround the business could lean on. We went hunting for the ceiling. We never really found it.</a:t>
            </a:r>
          </a:p>
          <a:p/>
          <a:p>
            <a:r>
              <a:t>But the thing that changed everything wasn't a release. It was one design decision. We went fully configuration-driven.</a:t>
            </a:r>
          </a:p>
          <a:p/>
          <a:p>
            <a:r>
              <a:t>[slow down] The old reflex: build a portal, and every new capability is more code, another deployment. We broke that link. In EDEN, a new search isn't a deployment. It's a block of configuration.</a:t>
            </a:r>
          </a:p>
          <a:p/>
          <a:p>
            <a:r>
              <a:t>And that changes who gets to build. You don't need an engineer. An analyst — someone who knows the data and knows what the business is asking for — can stand up a new search themselves. That's how we passed a hundred search screens. Configured by the people closest to the questions.</a:t>
            </a:r>
          </a:p>
          <a:p/>
          <a:p>
            <a:r>
              <a:t>Onboarding a new search went from a project with a timeline... to something you finish before lunch.</a:t>
            </a:r>
          </a:p>
          <a:p/>
          <a:p>
            <a:r>
              <a:t>That's the moment EDEN stopped being an app. And started being a way of delivering.”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~1:45</a:t>
            </a:r>
          </a:p>
          <a:p/>
          <a:p>
            <a:r>
              <a:t>“So let's go back to that person. The one with the urgent question and the deadline, stuck waiting days for an engineer.</a:t>
            </a:r>
          </a:p>
          <a:p/>
          <a:p>
            <a:r>
              <a:t>Today, they don't wait. They open EDEN, ask in plain language, and get their answer. No SQL. No ticket. No queue. And their permissions are enforced without anyone having to think about it. They got speed and independence — and we gave up nothing on governance.</a:t>
            </a:r>
          </a:p>
          <a:p/>
          <a:p>
            <a:r>
              <a:t>That's not a slide-deck promise. More than fifty people rely on EDEN like this now, and that number keeps climbing.</a:t>
            </a:r>
          </a:p>
          <a:p/>
          <a:p>
            <a:r>
              <a:t>For us, Databricks Apps wasn't just a feature. It became a way to deliver. One small team, moving fast, staying governed, building things people genuinely use. And next, we're working on bringing conversational analytics into EDEN — so someone can ask a question of unstructured data the way they'd ask a colleague.</a:t>
            </a:r>
          </a:p>
          <a:p/>
          <a:p>
            <a:r>
              <a:t>[pause]</a:t>
            </a:r>
          </a:p>
          <a:p/>
          <a:p>
            <a:r>
              <a:t>The idea that started as five minutes at an Innovation Day is now the way data gets accessed at the company. Not because we mandated it. Because people actually wanted to use it.</a:t>
            </a:r>
          </a:p>
          <a:p/>
          <a:p>
            <a:r>
              <a:t>Thank you. [hand to co-presenter]”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pPr algn="l">
              <a:lnSpc>
                <a:spcPct val="100000"/>
              </a:lnSpc>
            </a:pPr>
            <a:r>
              <a:rPr sz="1400" b="1">
                <a:solidFill>
                  <a:srgbClr val="FF3621"/>
                </a:solidFill>
                <a:latin typeface="Segoe UI Semibold"/>
              </a:rPr>
              <a:t>DATA + AI TOUR · SYDNEY</a:t>
            </a:r>
          </a:p>
        </p:txBody>
      </p:sp>
      <p:sp>
        <p:nvSpPr>
          <p:cNvPr id="3" name="TextBox 2"/>
          <p:cNvSpPr txBox="1"/>
          <p:nvPr/>
        </p:nvSpPr>
        <p:spPr>
          <a:xfrm>
            <a:off x="548640" y="2377440"/>
            <a:ext cx="11064240" cy="1828800"/>
          </a:xfrm>
          <a:prstGeom prst="rect">
            <a:avLst/>
          </a:prstGeom>
          <a:noFill/>
        </p:spPr>
        <p:txBody>
          <a:bodyPr wrap="square" anchor="t" lIns="0" rIns="0" tIns="0" bIns="0">
            <a:spAutoFit/>
          </a:bodyPr>
          <a:lstStyle/>
          <a:p>
            <a:pPr algn="l">
              <a:lnSpc>
                <a:spcPct val="100000"/>
              </a:lnSpc>
            </a:pPr>
            <a:r>
              <a:rPr sz="5400" b="1">
                <a:solidFill>
                  <a:srgbClr val="F5F6F7"/>
                </a:solidFill>
                <a:latin typeface="Segoe UI Semibold"/>
              </a:rPr>
              <a:t>EDEN on Databricks Apps</a:t>
            </a:r>
          </a:p>
        </p:txBody>
      </p:sp>
      <p:sp>
        <p:nvSpPr>
          <p:cNvPr id="4" name="TextBox 3"/>
          <p:cNvSpPr txBox="1"/>
          <p:nvPr/>
        </p:nvSpPr>
        <p:spPr>
          <a:xfrm>
            <a:off x="548640" y="3794760"/>
            <a:ext cx="9601200" cy="822960"/>
          </a:xfrm>
          <a:prstGeom prst="rect">
            <a:avLst/>
          </a:prstGeom>
          <a:noFill/>
        </p:spPr>
        <p:txBody>
          <a:bodyPr wrap="square" anchor="t" lIns="0" rIns="0" tIns="0" bIns="0">
            <a:spAutoFit/>
          </a:bodyPr>
          <a:lstStyle/>
          <a:p>
            <a:pPr algn="l">
              <a:lnSpc>
                <a:spcPct val="100000"/>
              </a:lnSpc>
            </a:pPr>
            <a:r>
              <a:rPr sz="1900" b="0">
                <a:solidFill>
                  <a:srgbClr val="9AA3AF"/>
                </a:solidFill>
                <a:latin typeface="Segoe UI"/>
              </a:rPr>
              <a:t>Governed self-serve search for regulated data — built entirely on the platform</a:t>
            </a:r>
          </a:p>
        </p:txBody>
      </p:sp>
      <p:sp>
        <p:nvSpPr>
          <p:cNvPr id="5" name="Rectangle 4"/>
          <p:cNvSpPr/>
          <p:nvPr/>
        </p:nvSpPr>
        <p:spPr>
          <a:xfrm>
            <a:off x="548640" y="4526280"/>
            <a:ext cx="1280160" cy="381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5486400" cy="365760"/>
          </a:xfrm>
          <a:prstGeom prst="rect">
            <a:avLst/>
          </a:prstGeom>
          <a:noFill/>
        </p:spPr>
        <p:txBody>
          <a:bodyPr wrap="square" anchor="t" lIns="0" rIns="0" tIns="0" bIns="0">
            <a:spAutoFit/>
          </a:bodyPr>
          <a:lstStyle/>
          <a:p>
            <a:pPr algn="l">
              <a:lnSpc>
                <a:spcPct val="100000"/>
              </a:lnSpc>
            </a:pPr>
            <a:r>
              <a:rPr sz="1500" b="1">
                <a:solidFill>
                  <a:srgbClr val="F5F6F7"/>
                </a:solidFill>
                <a:latin typeface="Segoe UI Semibold"/>
              </a:rPr>
              <a:t>Ankur</a:t>
            </a:r>
          </a:p>
        </p:txBody>
      </p:sp>
      <p:pic>
        <p:nvPicPr>
          <p:cNvPr id="7" name="Picture 6" descr="databricks_logo.png"/>
          <p:cNvPicPr>
            <a:picLocks noChangeAspect="1"/>
          </p:cNvPicPr>
          <p:nvPr/>
        </p:nvPicPr>
        <p:blipFill>
          <a:blip r:embed="rId2"/>
          <a:stretch>
            <a:fillRect/>
          </a:stretch>
        </p:blipFill>
        <p:spPr>
          <a:xfrm>
            <a:off x="9646920" y="6446520"/>
            <a:ext cx="1524000" cy="256032"/>
          </a:xfrm>
          <a:prstGeom prst="rect">
            <a:avLst/>
          </a:prstGeom>
        </p:spPr>
      </p:pic>
      <p:pic>
        <p:nvPicPr>
          <p:cNvPr id="8" name="Picture 7" descr="optus_logo.png"/>
          <p:cNvPicPr>
            <a:picLocks noChangeAspect="1"/>
          </p:cNvPicPr>
          <p:nvPr/>
        </p:nvPicPr>
        <p:blipFill>
          <a:blip r:embed="rId3"/>
          <a:stretch>
            <a:fillRect/>
          </a:stretch>
        </p:blipFill>
        <p:spPr>
          <a:xfrm>
            <a:off x="11109960" y="6428232"/>
            <a:ext cx="1420427" cy="29260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5486400" cy="365760"/>
          </a:xfrm>
          <a:prstGeom prst="rect">
            <a:avLst/>
          </a:prstGeom>
          <a:noFill/>
        </p:spPr>
        <p:txBody>
          <a:bodyPr wrap="square" anchor="t" lIns="0" rIns="0" tIns="0" bIns="0">
            <a:spAutoFit/>
          </a:bodyPr>
          <a:lstStyle/>
          <a:p>
            <a:pPr algn="l">
              <a:lnSpc>
                <a:spcPct val="100000"/>
              </a:lnSpc>
            </a:pPr>
            <a:r>
              <a:rPr sz="1500" b="1">
                <a:solidFill>
                  <a:srgbClr val="FF3621"/>
                </a:solidFill>
                <a:latin typeface="Segoe UI Semibold"/>
              </a:rPr>
              <a:t>01 · WHY</a:t>
            </a:r>
          </a:p>
        </p:txBody>
      </p:sp>
      <p:sp>
        <p:nvSpPr>
          <p:cNvPr id="3" name="Rectangle 2"/>
          <p:cNvSpPr/>
          <p:nvPr/>
        </p:nvSpPr>
        <p:spPr>
          <a:xfrm>
            <a:off x="548640" y="786384"/>
            <a:ext cx="1280160" cy="381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60120"/>
            <a:ext cx="10607040" cy="1188720"/>
          </a:xfrm>
          <a:prstGeom prst="rect">
            <a:avLst/>
          </a:prstGeom>
          <a:noFill/>
        </p:spPr>
        <p:txBody>
          <a:bodyPr wrap="square" anchor="t" lIns="0" rIns="0" tIns="0" bIns="0">
            <a:spAutoFit/>
          </a:bodyPr>
          <a:lstStyle/>
          <a:p>
            <a:pPr algn="l">
              <a:lnSpc>
                <a:spcPct val="105000"/>
              </a:lnSpc>
            </a:pPr>
            <a:r>
              <a:rPr sz="3200" b="1">
                <a:solidFill>
                  <a:srgbClr val="F5F6F7"/>
                </a:solidFill>
                <a:latin typeface="Segoe UI Semibold"/>
              </a:rPr>
              <a:t>One idea at Innovation Day. 100+ search screens in production.</a:t>
            </a:r>
          </a:p>
        </p:txBody>
      </p:sp>
      <p:sp>
        <p:nvSpPr>
          <p:cNvPr id="5" name="rail_pill_0"/>
          <p:cNvSpPr/>
          <p:nvPr/>
        </p:nvSpPr>
        <p:spPr>
          <a:xfrm>
            <a:off x="1258671" y="6053328"/>
            <a:ext cx="1847088" cy="347472"/>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5F6F7"/>
                </a:solidFill>
                <a:latin typeface="Segoe UI Semibold"/>
              </a:rPr>
              <a:t>WHY</a:t>
            </a:r>
          </a:p>
        </p:txBody>
      </p:sp>
      <p:sp>
        <p:nvSpPr>
          <p:cNvPr id="6" name="rail_pill_1"/>
          <p:cNvSpPr/>
          <p:nvPr/>
        </p:nvSpPr>
        <p:spPr>
          <a:xfrm>
            <a:off x="3215487"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IDEA</a:t>
            </a:r>
          </a:p>
        </p:txBody>
      </p:sp>
      <p:sp>
        <p:nvSpPr>
          <p:cNvPr id="7" name="rail_pill_2"/>
          <p:cNvSpPr/>
          <p:nvPr/>
        </p:nvSpPr>
        <p:spPr>
          <a:xfrm>
            <a:off x="5172303"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WHAT</a:t>
            </a:r>
          </a:p>
        </p:txBody>
      </p:sp>
      <p:sp>
        <p:nvSpPr>
          <p:cNvPr id="8" name="rail_pill_3"/>
          <p:cNvSpPr/>
          <p:nvPr/>
        </p:nvSpPr>
        <p:spPr>
          <a:xfrm>
            <a:off x="7129119"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HOW</a:t>
            </a:r>
          </a:p>
        </p:txBody>
      </p:sp>
      <p:sp>
        <p:nvSpPr>
          <p:cNvPr id="9" name="rail_pill_4"/>
          <p:cNvSpPr/>
          <p:nvPr/>
        </p:nvSpPr>
        <p:spPr>
          <a:xfrm>
            <a:off x="9085935"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BENEFIT</a:t>
            </a:r>
          </a:p>
        </p:txBody>
      </p:sp>
      <p:pic>
        <p:nvPicPr>
          <p:cNvPr id="10" name="Picture 9" descr="databricks_logo.png"/>
          <p:cNvPicPr>
            <a:picLocks noChangeAspect="1"/>
          </p:cNvPicPr>
          <p:nvPr/>
        </p:nvPicPr>
        <p:blipFill>
          <a:blip r:embed="rId2"/>
          <a:stretch>
            <a:fillRect/>
          </a:stretch>
        </p:blipFill>
        <p:spPr>
          <a:xfrm>
            <a:off x="9646920" y="6446520"/>
            <a:ext cx="1524000" cy="256032"/>
          </a:xfrm>
          <a:prstGeom prst="rect">
            <a:avLst/>
          </a:prstGeom>
        </p:spPr>
      </p:pic>
      <p:pic>
        <p:nvPicPr>
          <p:cNvPr id="11" name="Picture 10" descr="optus_logo.png"/>
          <p:cNvPicPr>
            <a:picLocks noChangeAspect="1"/>
          </p:cNvPicPr>
          <p:nvPr/>
        </p:nvPicPr>
        <p:blipFill>
          <a:blip r:embed="rId3"/>
          <a:stretch>
            <a:fillRect/>
          </a:stretch>
        </p:blipFill>
        <p:spPr>
          <a:xfrm>
            <a:off x="11109960" y="6428232"/>
            <a:ext cx="1420427" cy="292608"/>
          </a:xfrm>
          <a:prstGeom prst="rect">
            <a:avLst/>
          </a:prstGeom>
        </p:spPr>
      </p:pic>
      <p:sp>
        <p:nvSpPr>
          <p:cNvPr id="12" name="TextBox 11"/>
          <p:cNvSpPr txBox="1"/>
          <p:nvPr/>
        </p:nvSpPr>
        <p:spPr>
          <a:xfrm>
            <a:off x="548640" y="2423160"/>
            <a:ext cx="6492240" cy="3291840"/>
          </a:xfrm>
          <a:prstGeom prst="rect">
            <a:avLst/>
          </a:prstGeom>
          <a:noFill/>
        </p:spPr>
        <p:txBody>
          <a:bodyPr wrap="square" lIns="0" rIns="0" tIns="0" bIns="0">
            <a:spAutoFit/>
          </a:bodyPr>
          <a:lstStyle/>
          <a:p>
            <a:pPr>
              <a:lnSpc>
                <a:spcPct val="112000"/>
              </a:lnSpc>
              <a:spcAft>
                <a:spcPts val="1800"/>
              </a:spcAft>
            </a:pPr>
            <a:r>
              <a:rPr sz="1900" b="1">
                <a:solidFill>
                  <a:srgbClr val="FF3621"/>
                </a:solidFill>
                <a:latin typeface="Segoe UI"/>
              </a:rPr>
              <a:t>— </a:t>
            </a:r>
            <a:r>
              <a:rPr sz="1900">
                <a:solidFill>
                  <a:srgbClr val="F5F6F7"/>
                </a:solidFill>
                <a:latin typeface="Segoe UI"/>
              </a:rPr>
              <a:t>A strategic archival &amp; retention platform on Azure Databricks</a:t>
            </a:r>
          </a:p>
          <a:p>
            <a:pPr>
              <a:lnSpc>
                <a:spcPct val="112000"/>
              </a:lnSpc>
              <a:spcAft>
                <a:spcPts val="1800"/>
              </a:spcAft>
            </a:pPr>
            <a:r>
              <a:rPr sz="1900" b="1">
                <a:solidFill>
                  <a:srgbClr val="FF3621"/>
                </a:solidFill>
                <a:latin typeface="Segoe UI"/>
              </a:rPr>
              <a:t>— </a:t>
            </a:r>
            <a:r>
              <a:rPr sz="1900">
                <a:solidFill>
                  <a:srgbClr val="F5F6F7"/>
                </a:solidFill>
                <a:latin typeface="Segoe UI"/>
              </a:rPr>
              <a:t>And unreachable for the people who needed it most</a:t>
            </a:r>
          </a:p>
        </p:txBody>
      </p:sp>
      <p:sp>
        <p:nvSpPr>
          <p:cNvPr id="13" name="Rounded Rectangle 12"/>
          <p:cNvSpPr/>
          <p:nvPr/>
        </p:nvSpPr>
        <p:spPr>
          <a:xfrm>
            <a:off x="7406640" y="2423160"/>
            <a:ext cx="3749039" cy="1463040"/>
          </a:xfrm>
          <a:prstGeom prst="roundRect">
            <a:avLst>
              <a:gd name="adj" fmla="val 8000"/>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7808" y="2551176"/>
            <a:ext cx="3346703" cy="594360"/>
          </a:xfrm>
          <a:prstGeom prst="rect">
            <a:avLst/>
          </a:prstGeom>
          <a:noFill/>
        </p:spPr>
        <p:txBody>
          <a:bodyPr wrap="square" anchor="t" lIns="0" rIns="0" tIns="0" bIns="0">
            <a:spAutoFit/>
          </a:bodyPr>
          <a:lstStyle/>
          <a:p>
            <a:pPr algn="l">
              <a:lnSpc>
                <a:spcPct val="100000"/>
              </a:lnSpc>
            </a:pPr>
            <a:r>
              <a:rPr sz="3400" b="1">
                <a:solidFill>
                  <a:srgbClr val="FF3621"/>
                </a:solidFill>
                <a:latin typeface="Segoe UI Semibold"/>
              </a:rPr>
              <a:t>10+ TB</a:t>
            </a:r>
          </a:p>
        </p:txBody>
      </p:sp>
      <p:sp>
        <p:nvSpPr>
          <p:cNvPr id="15" name="TextBox 14"/>
          <p:cNvSpPr txBox="1"/>
          <p:nvPr/>
        </p:nvSpPr>
        <p:spPr>
          <a:xfrm>
            <a:off x="7607808" y="3429000"/>
            <a:ext cx="3346703" cy="384048"/>
          </a:xfrm>
          <a:prstGeom prst="rect">
            <a:avLst/>
          </a:prstGeom>
          <a:noFill/>
        </p:spPr>
        <p:txBody>
          <a:bodyPr wrap="square" anchor="t" lIns="0" rIns="0" tIns="0" bIns="0">
            <a:spAutoFit/>
          </a:bodyPr>
          <a:lstStyle/>
          <a:p>
            <a:pPr algn="l">
              <a:lnSpc>
                <a:spcPct val="105000"/>
              </a:lnSpc>
            </a:pPr>
            <a:r>
              <a:rPr sz="1150" b="0">
                <a:solidFill>
                  <a:srgbClr val="9AA3AF"/>
                </a:solidFill>
                <a:latin typeface="Segoe UI"/>
              </a:rPr>
              <a:t>of data — well-governed, well-secured</a:t>
            </a:r>
          </a:p>
        </p:txBody>
      </p:sp>
    </p:spTree>
  </p:cSld>
  <p:clrMapOvr>
    <a:masterClrMapping/>
  </p:clrMapOvr>
  <p:transition xmlns:p14="http://schemas.microsoft.com/office/powerpoint/2010/main" p14:dur="800" spd="slow">
    <mc:AlternateContent xmlns:mc="http://schemas.openxmlformats.org/markup-compatibility/2006">
      <mc:Choice xmlns:p159="http://schemas.microsoft.com/office/powerpoint/2015/09/main" Requires="p159">
        <p159:morph option="byObject"/>
      </mc:Choice>
      <mc:Fallback>
        <p:fade/>
      </mc:Fallback>
    </mc:AlternateContent>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5486400" cy="365760"/>
          </a:xfrm>
          <a:prstGeom prst="rect">
            <a:avLst/>
          </a:prstGeom>
          <a:noFill/>
        </p:spPr>
        <p:txBody>
          <a:bodyPr wrap="square" anchor="t" lIns="0" rIns="0" tIns="0" bIns="0">
            <a:spAutoFit/>
          </a:bodyPr>
          <a:lstStyle/>
          <a:p>
            <a:pPr algn="l">
              <a:lnSpc>
                <a:spcPct val="100000"/>
              </a:lnSpc>
            </a:pPr>
            <a:r>
              <a:rPr sz="1500" b="1">
                <a:solidFill>
                  <a:srgbClr val="FF3621"/>
                </a:solidFill>
                <a:latin typeface="Segoe UI Semibold"/>
              </a:rPr>
              <a:t>02 · IDEA</a:t>
            </a:r>
          </a:p>
        </p:txBody>
      </p:sp>
      <p:sp>
        <p:nvSpPr>
          <p:cNvPr id="3" name="Rectangle 2"/>
          <p:cNvSpPr/>
          <p:nvPr/>
        </p:nvSpPr>
        <p:spPr>
          <a:xfrm>
            <a:off x="548640" y="786384"/>
            <a:ext cx="1280160" cy="381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60120"/>
            <a:ext cx="10607040" cy="1188720"/>
          </a:xfrm>
          <a:prstGeom prst="rect">
            <a:avLst/>
          </a:prstGeom>
          <a:noFill/>
        </p:spPr>
        <p:txBody>
          <a:bodyPr wrap="square" anchor="t" lIns="0" rIns="0" tIns="0" bIns="0">
            <a:spAutoFit/>
          </a:bodyPr>
          <a:lstStyle/>
          <a:p>
            <a:pPr algn="l">
              <a:lnSpc>
                <a:spcPct val="105000"/>
              </a:lnSpc>
            </a:pPr>
            <a:r>
              <a:rPr sz="3200" b="1">
                <a:solidFill>
                  <a:srgbClr val="F5F6F7"/>
                </a:solidFill>
                <a:latin typeface="Segoe UI Semibold"/>
              </a:rPr>
              <a:t>The prototype barely worked. The idea did.</a:t>
            </a:r>
          </a:p>
        </p:txBody>
      </p:sp>
      <p:sp>
        <p:nvSpPr>
          <p:cNvPr id="5" name="rail_pill_0"/>
          <p:cNvSpPr/>
          <p:nvPr/>
        </p:nvSpPr>
        <p:spPr>
          <a:xfrm>
            <a:off x="1258671"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WHY</a:t>
            </a:r>
          </a:p>
        </p:txBody>
      </p:sp>
      <p:sp>
        <p:nvSpPr>
          <p:cNvPr id="6" name="rail_pill_1"/>
          <p:cNvSpPr/>
          <p:nvPr/>
        </p:nvSpPr>
        <p:spPr>
          <a:xfrm>
            <a:off x="3215487" y="6053328"/>
            <a:ext cx="1847088" cy="347472"/>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5F6F7"/>
                </a:solidFill>
                <a:latin typeface="Segoe UI Semibold"/>
              </a:rPr>
              <a:t>IDEA</a:t>
            </a:r>
          </a:p>
        </p:txBody>
      </p:sp>
      <p:sp>
        <p:nvSpPr>
          <p:cNvPr id="7" name="rail_pill_2"/>
          <p:cNvSpPr/>
          <p:nvPr/>
        </p:nvSpPr>
        <p:spPr>
          <a:xfrm>
            <a:off x="5172303"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WHAT</a:t>
            </a:r>
          </a:p>
        </p:txBody>
      </p:sp>
      <p:sp>
        <p:nvSpPr>
          <p:cNvPr id="8" name="rail_pill_3"/>
          <p:cNvSpPr/>
          <p:nvPr/>
        </p:nvSpPr>
        <p:spPr>
          <a:xfrm>
            <a:off x="7129119"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HOW</a:t>
            </a:r>
          </a:p>
        </p:txBody>
      </p:sp>
      <p:sp>
        <p:nvSpPr>
          <p:cNvPr id="9" name="rail_pill_4"/>
          <p:cNvSpPr/>
          <p:nvPr/>
        </p:nvSpPr>
        <p:spPr>
          <a:xfrm>
            <a:off x="9085935"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BENEFIT</a:t>
            </a:r>
          </a:p>
        </p:txBody>
      </p:sp>
      <p:pic>
        <p:nvPicPr>
          <p:cNvPr id="10" name="Picture 9" descr="databricks_logo.png"/>
          <p:cNvPicPr>
            <a:picLocks noChangeAspect="1"/>
          </p:cNvPicPr>
          <p:nvPr/>
        </p:nvPicPr>
        <p:blipFill>
          <a:blip r:embed="rId2"/>
          <a:stretch>
            <a:fillRect/>
          </a:stretch>
        </p:blipFill>
        <p:spPr>
          <a:xfrm>
            <a:off x="9646920" y="6446520"/>
            <a:ext cx="1524000" cy="256032"/>
          </a:xfrm>
          <a:prstGeom prst="rect">
            <a:avLst/>
          </a:prstGeom>
        </p:spPr>
      </p:pic>
      <p:pic>
        <p:nvPicPr>
          <p:cNvPr id="11" name="Picture 10" descr="optus_logo.png"/>
          <p:cNvPicPr>
            <a:picLocks noChangeAspect="1"/>
          </p:cNvPicPr>
          <p:nvPr/>
        </p:nvPicPr>
        <p:blipFill>
          <a:blip r:embed="rId3"/>
          <a:stretch>
            <a:fillRect/>
          </a:stretch>
        </p:blipFill>
        <p:spPr>
          <a:xfrm>
            <a:off x="11109960" y="6428232"/>
            <a:ext cx="1420427" cy="292608"/>
          </a:xfrm>
          <a:prstGeom prst="rect">
            <a:avLst/>
          </a:prstGeom>
        </p:spPr>
      </p:pic>
      <p:sp>
        <p:nvSpPr>
          <p:cNvPr id="12" name="TextBox 11"/>
          <p:cNvSpPr txBox="1"/>
          <p:nvPr/>
        </p:nvSpPr>
        <p:spPr>
          <a:xfrm>
            <a:off x="548640" y="2423160"/>
            <a:ext cx="6492240" cy="3291840"/>
          </a:xfrm>
          <a:prstGeom prst="rect">
            <a:avLst/>
          </a:prstGeom>
          <a:noFill/>
        </p:spPr>
        <p:txBody>
          <a:bodyPr wrap="square" lIns="0" rIns="0" tIns="0" bIns="0">
            <a:spAutoFit/>
          </a:bodyPr>
          <a:lstStyle/>
          <a:p>
            <a:pPr>
              <a:lnSpc>
                <a:spcPct val="112000"/>
              </a:lnSpc>
              <a:spcAft>
                <a:spcPts val="1800"/>
              </a:spcAft>
            </a:pPr>
            <a:r>
              <a:rPr sz="1900" b="1">
                <a:solidFill>
                  <a:srgbClr val="FF3621"/>
                </a:solidFill>
                <a:latin typeface="Segoe UI"/>
              </a:rPr>
              <a:t>— </a:t>
            </a:r>
            <a:r>
              <a:rPr sz="1900">
                <a:solidFill>
                  <a:srgbClr val="F5F6F7"/>
                </a:solidFill>
                <a:latin typeface="Segoe UI"/>
              </a:rPr>
              <a:t>Built on the platform — not beside it</a:t>
            </a:r>
          </a:p>
          <a:p>
            <a:pPr>
              <a:lnSpc>
                <a:spcPct val="112000"/>
              </a:lnSpc>
              <a:spcAft>
                <a:spcPts val="1800"/>
              </a:spcAft>
            </a:pPr>
            <a:r>
              <a:rPr sz="1900" b="1">
                <a:solidFill>
                  <a:srgbClr val="FF3621"/>
                </a:solidFill>
                <a:latin typeface="Segoe UI"/>
              </a:rPr>
              <a:t>— </a:t>
            </a:r>
            <a:r>
              <a:rPr sz="1900">
                <a:solidFill>
                  <a:srgbClr val="F5F6F7"/>
                </a:solidFill>
                <a:latin typeface="Segoe UI"/>
              </a:rPr>
              <a:t>The business saw it and backed it</a:t>
            </a:r>
          </a:p>
        </p:txBody>
      </p:sp>
      <p:sp>
        <p:nvSpPr>
          <p:cNvPr id="13" name="Rounded Rectangle 12"/>
          <p:cNvSpPr/>
          <p:nvPr/>
        </p:nvSpPr>
        <p:spPr>
          <a:xfrm>
            <a:off x="7406640" y="2423160"/>
            <a:ext cx="3749039" cy="1463040"/>
          </a:xfrm>
          <a:prstGeom prst="roundRect">
            <a:avLst>
              <a:gd name="adj" fmla="val 8000"/>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7808" y="2551176"/>
            <a:ext cx="3346703" cy="594360"/>
          </a:xfrm>
          <a:prstGeom prst="rect">
            <a:avLst/>
          </a:prstGeom>
          <a:noFill/>
        </p:spPr>
        <p:txBody>
          <a:bodyPr wrap="square" anchor="t" lIns="0" rIns="0" tIns="0" bIns="0">
            <a:spAutoFit/>
          </a:bodyPr>
          <a:lstStyle/>
          <a:p>
            <a:pPr algn="l">
              <a:lnSpc>
                <a:spcPct val="100000"/>
              </a:lnSpc>
            </a:pPr>
            <a:r>
              <a:rPr sz="3400" b="1">
                <a:solidFill>
                  <a:srgbClr val="FF3621"/>
                </a:solidFill>
                <a:latin typeface="Segoe UI Semibold"/>
              </a:rPr>
              <a:t>5 min</a:t>
            </a:r>
          </a:p>
        </p:txBody>
      </p:sp>
      <p:sp>
        <p:nvSpPr>
          <p:cNvPr id="15" name="TextBox 14"/>
          <p:cNvSpPr txBox="1"/>
          <p:nvPr/>
        </p:nvSpPr>
        <p:spPr>
          <a:xfrm>
            <a:off x="7607808" y="3429000"/>
            <a:ext cx="3346703" cy="384048"/>
          </a:xfrm>
          <a:prstGeom prst="rect">
            <a:avLst/>
          </a:prstGeom>
          <a:noFill/>
        </p:spPr>
        <p:txBody>
          <a:bodyPr wrap="square" anchor="t" lIns="0" rIns="0" tIns="0" bIns="0">
            <a:spAutoFit/>
          </a:bodyPr>
          <a:lstStyle/>
          <a:p>
            <a:pPr algn="l">
              <a:lnSpc>
                <a:spcPct val="105000"/>
              </a:lnSpc>
            </a:pPr>
            <a:r>
              <a:rPr sz="1150" b="0">
                <a:solidFill>
                  <a:srgbClr val="9AA3AF"/>
                </a:solidFill>
                <a:latin typeface="Segoe UI"/>
              </a:rPr>
              <a:t>from Innovation Day pitch to prototype</a:t>
            </a:r>
          </a:p>
        </p:txBody>
      </p:sp>
    </p:spTree>
  </p:cSld>
  <p:clrMapOvr>
    <a:masterClrMapping/>
  </p:clrMapOvr>
  <p:transition xmlns:p14="http://schemas.microsoft.com/office/powerpoint/2010/main" p14:dur="800" spd="slow">
    <mc:AlternateContent xmlns:mc="http://schemas.openxmlformats.org/markup-compatibility/2006">
      <mc:Choice xmlns:p159="http://schemas.microsoft.com/office/powerpoint/2015/09/main" Requires="p159">
        <p159:morph option="byObject"/>
      </mc:Choice>
      <mc:Fallback>
        <p:fade/>
      </mc:Fallback>
    </mc:AlternateContent>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5486400" cy="365760"/>
          </a:xfrm>
          <a:prstGeom prst="rect">
            <a:avLst/>
          </a:prstGeom>
          <a:noFill/>
        </p:spPr>
        <p:txBody>
          <a:bodyPr wrap="square" anchor="t" lIns="0" rIns="0" tIns="0" bIns="0">
            <a:spAutoFit/>
          </a:bodyPr>
          <a:lstStyle/>
          <a:p>
            <a:pPr algn="l">
              <a:lnSpc>
                <a:spcPct val="100000"/>
              </a:lnSpc>
            </a:pPr>
            <a:r>
              <a:rPr sz="1500" b="1">
                <a:solidFill>
                  <a:srgbClr val="FF3621"/>
                </a:solidFill>
                <a:latin typeface="Segoe UI Semibold"/>
              </a:rPr>
              <a:t>03 · WHAT</a:t>
            </a:r>
          </a:p>
        </p:txBody>
      </p:sp>
      <p:sp>
        <p:nvSpPr>
          <p:cNvPr id="3" name="Rectangle 2"/>
          <p:cNvSpPr/>
          <p:nvPr/>
        </p:nvSpPr>
        <p:spPr>
          <a:xfrm>
            <a:off x="548640" y="786384"/>
            <a:ext cx="1280160" cy="381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60120"/>
            <a:ext cx="10607040" cy="1188720"/>
          </a:xfrm>
          <a:prstGeom prst="rect">
            <a:avLst/>
          </a:prstGeom>
          <a:noFill/>
        </p:spPr>
        <p:txBody>
          <a:bodyPr wrap="square" anchor="t" lIns="0" rIns="0" tIns="0" bIns="0">
            <a:spAutoFit/>
          </a:bodyPr>
          <a:lstStyle/>
          <a:p>
            <a:pPr algn="l">
              <a:lnSpc>
                <a:spcPct val="105000"/>
              </a:lnSpc>
            </a:pPr>
            <a:r>
              <a:rPr sz="3200" b="1">
                <a:solidFill>
                  <a:srgbClr val="F5F6F7"/>
                </a:solidFill>
                <a:latin typeface="Segoe UI Semibold"/>
              </a:rPr>
              <a:t>Ask regulated data a question, on simple search screens. No SQL. No ticket.</a:t>
            </a:r>
          </a:p>
        </p:txBody>
      </p:sp>
      <p:sp>
        <p:nvSpPr>
          <p:cNvPr id="5" name="rail_pill_0"/>
          <p:cNvSpPr/>
          <p:nvPr/>
        </p:nvSpPr>
        <p:spPr>
          <a:xfrm>
            <a:off x="1258671"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WHY</a:t>
            </a:r>
          </a:p>
        </p:txBody>
      </p:sp>
      <p:sp>
        <p:nvSpPr>
          <p:cNvPr id="6" name="rail_pill_1"/>
          <p:cNvSpPr/>
          <p:nvPr/>
        </p:nvSpPr>
        <p:spPr>
          <a:xfrm>
            <a:off x="3215487"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IDEA</a:t>
            </a:r>
          </a:p>
        </p:txBody>
      </p:sp>
      <p:sp>
        <p:nvSpPr>
          <p:cNvPr id="7" name="rail_pill_2"/>
          <p:cNvSpPr/>
          <p:nvPr/>
        </p:nvSpPr>
        <p:spPr>
          <a:xfrm>
            <a:off x="5172303" y="6053328"/>
            <a:ext cx="1847088" cy="347472"/>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5F6F7"/>
                </a:solidFill>
                <a:latin typeface="Segoe UI Semibold"/>
              </a:rPr>
              <a:t>WHAT</a:t>
            </a:r>
          </a:p>
        </p:txBody>
      </p:sp>
      <p:sp>
        <p:nvSpPr>
          <p:cNvPr id="8" name="rail_pill_3"/>
          <p:cNvSpPr/>
          <p:nvPr/>
        </p:nvSpPr>
        <p:spPr>
          <a:xfrm>
            <a:off x="7129119"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HOW</a:t>
            </a:r>
          </a:p>
        </p:txBody>
      </p:sp>
      <p:sp>
        <p:nvSpPr>
          <p:cNvPr id="9" name="rail_pill_4"/>
          <p:cNvSpPr/>
          <p:nvPr/>
        </p:nvSpPr>
        <p:spPr>
          <a:xfrm>
            <a:off x="9085935"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BENEFIT</a:t>
            </a:r>
          </a:p>
        </p:txBody>
      </p:sp>
      <p:pic>
        <p:nvPicPr>
          <p:cNvPr id="10" name="Picture 9" descr="databricks_logo.png"/>
          <p:cNvPicPr>
            <a:picLocks noChangeAspect="1"/>
          </p:cNvPicPr>
          <p:nvPr/>
        </p:nvPicPr>
        <p:blipFill>
          <a:blip r:embed="rId2"/>
          <a:stretch>
            <a:fillRect/>
          </a:stretch>
        </p:blipFill>
        <p:spPr>
          <a:xfrm>
            <a:off x="9646920" y="6446520"/>
            <a:ext cx="1524000" cy="256032"/>
          </a:xfrm>
          <a:prstGeom prst="rect">
            <a:avLst/>
          </a:prstGeom>
        </p:spPr>
      </p:pic>
      <p:pic>
        <p:nvPicPr>
          <p:cNvPr id="11" name="Picture 10" descr="optus_logo.png"/>
          <p:cNvPicPr>
            <a:picLocks noChangeAspect="1"/>
          </p:cNvPicPr>
          <p:nvPr/>
        </p:nvPicPr>
        <p:blipFill>
          <a:blip r:embed="rId3"/>
          <a:stretch>
            <a:fillRect/>
          </a:stretch>
        </p:blipFill>
        <p:spPr>
          <a:xfrm>
            <a:off x="11109960" y="6428232"/>
            <a:ext cx="1420427" cy="292608"/>
          </a:xfrm>
          <a:prstGeom prst="rect">
            <a:avLst/>
          </a:prstGeom>
        </p:spPr>
      </p:pic>
      <p:sp>
        <p:nvSpPr>
          <p:cNvPr id="12" name="TextBox 11"/>
          <p:cNvSpPr txBox="1"/>
          <p:nvPr/>
        </p:nvSpPr>
        <p:spPr>
          <a:xfrm>
            <a:off x="548640" y="2423160"/>
            <a:ext cx="10607040" cy="3383280"/>
          </a:xfrm>
          <a:prstGeom prst="rect">
            <a:avLst/>
          </a:prstGeom>
          <a:noFill/>
        </p:spPr>
        <p:txBody>
          <a:bodyPr wrap="square" lIns="0" rIns="0" tIns="0" bIns="0">
            <a:spAutoFit/>
          </a:bodyPr>
          <a:lstStyle/>
          <a:p>
            <a:pPr>
              <a:lnSpc>
                <a:spcPct val="112000"/>
              </a:lnSpc>
              <a:spcAft>
                <a:spcPts val="2000"/>
              </a:spcAft>
            </a:pPr>
            <a:r>
              <a:rPr sz="2000" b="1">
                <a:solidFill>
                  <a:srgbClr val="FF3621"/>
                </a:solidFill>
                <a:latin typeface="Segoe UI"/>
              </a:rPr>
              <a:t>— </a:t>
            </a:r>
            <a:r>
              <a:rPr sz="2000">
                <a:solidFill>
                  <a:srgbClr val="F5F6F7"/>
                </a:solidFill>
                <a:latin typeface="Segoe UI"/>
              </a:rPr>
              <a:t>Plain-language search across structured and unstructured data</a:t>
            </a:r>
          </a:p>
          <a:p>
            <a:pPr>
              <a:lnSpc>
                <a:spcPct val="112000"/>
              </a:lnSpc>
              <a:spcAft>
                <a:spcPts val="2000"/>
              </a:spcAft>
            </a:pPr>
            <a:r>
              <a:rPr sz="2000" b="1">
                <a:solidFill>
                  <a:srgbClr val="FF3621"/>
                </a:solidFill>
                <a:latin typeface="Segoe UI"/>
              </a:rPr>
              <a:t>— </a:t>
            </a:r>
            <a:r>
              <a:rPr sz="2000">
                <a:solidFill>
                  <a:srgbClr val="F5F6F7"/>
                </a:solidFill>
                <a:latin typeface="Segoe UI"/>
              </a:rPr>
              <a:t>Heavy searches handled quietly on serverless compute</a:t>
            </a:r>
          </a:p>
          <a:p>
            <a:pPr>
              <a:lnSpc>
                <a:spcPct val="112000"/>
              </a:lnSpc>
              <a:spcAft>
                <a:spcPts val="2000"/>
              </a:spcAft>
            </a:pPr>
            <a:r>
              <a:rPr sz="2000" b="1">
                <a:solidFill>
                  <a:srgbClr val="FF3621"/>
                </a:solidFill>
                <a:latin typeface="Segoe UI"/>
              </a:rPr>
              <a:t>— </a:t>
            </a:r>
            <a:r>
              <a:rPr sz="2000">
                <a:solidFill>
                  <a:srgbClr val="F5F6F7"/>
                </a:solidFill>
                <a:latin typeface="Segoe UI"/>
              </a:rPr>
              <a:t>Open, preview and export files — see only what your role allows</a:t>
            </a:r>
          </a:p>
          <a:p>
            <a:pPr>
              <a:lnSpc>
                <a:spcPct val="112000"/>
              </a:lnSpc>
              <a:spcAft>
                <a:spcPts val="2000"/>
              </a:spcAft>
            </a:pPr>
            <a:r>
              <a:rPr sz="2000" b="1">
                <a:solidFill>
                  <a:srgbClr val="FF3621"/>
                </a:solidFill>
                <a:latin typeface="Segoe UI"/>
              </a:rPr>
              <a:t>— </a:t>
            </a:r>
            <a:r>
              <a:rPr sz="2000">
                <a:solidFill>
                  <a:srgbClr val="F5F6F7"/>
                </a:solidFill>
                <a:latin typeface="Segoe UI"/>
              </a:rPr>
              <a:t>Every screen built from configuration, and secured by the platform itself</a:t>
            </a:r>
          </a:p>
        </p:txBody>
      </p:sp>
    </p:spTree>
  </p:cSld>
  <p:clrMapOvr>
    <a:masterClrMapping/>
  </p:clrMapOvr>
  <p:transition xmlns:p14="http://schemas.microsoft.com/office/powerpoint/2010/main" p14:dur="800" spd="slow">
    <mc:AlternateContent xmlns:mc="http://schemas.openxmlformats.org/markup-compatibility/2006">
      <mc:Choice xmlns:p159="http://schemas.microsoft.com/office/powerpoint/2015/09/main" Requires="p159">
        <p159:morph option="byObject"/>
      </mc:Choice>
      <mc:Fallback>
        <p:fade/>
      </mc:Fallback>
    </mc:AlternateContent>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5486400" cy="365760"/>
          </a:xfrm>
          <a:prstGeom prst="rect">
            <a:avLst/>
          </a:prstGeom>
          <a:noFill/>
        </p:spPr>
        <p:txBody>
          <a:bodyPr wrap="square" anchor="t" lIns="0" rIns="0" tIns="0" bIns="0">
            <a:spAutoFit/>
          </a:bodyPr>
          <a:lstStyle/>
          <a:p>
            <a:pPr algn="l">
              <a:lnSpc>
                <a:spcPct val="100000"/>
              </a:lnSpc>
            </a:pPr>
            <a:r>
              <a:rPr sz="1500" b="1">
                <a:solidFill>
                  <a:srgbClr val="FF3621"/>
                </a:solidFill>
                <a:latin typeface="Segoe UI Semibold"/>
              </a:rPr>
              <a:t>04 · HOW</a:t>
            </a:r>
          </a:p>
        </p:txBody>
      </p:sp>
      <p:sp>
        <p:nvSpPr>
          <p:cNvPr id="3" name="Rectangle 2"/>
          <p:cNvSpPr/>
          <p:nvPr/>
        </p:nvSpPr>
        <p:spPr>
          <a:xfrm>
            <a:off x="548640" y="786384"/>
            <a:ext cx="1280160" cy="381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60120"/>
            <a:ext cx="10607040" cy="1188720"/>
          </a:xfrm>
          <a:prstGeom prst="rect">
            <a:avLst/>
          </a:prstGeom>
          <a:noFill/>
        </p:spPr>
        <p:txBody>
          <a:bodyPr wrap="square" anchor="t" lIns="0" rIns="0" tIns="0" bIns="0">
            <a:spAutoFit/>
          </a:bodyPr>
          <a:lstStyle/>
          <a:p>
            <a:pPr algn="l">
              <a:lnSpc>
                <a:spcPct val="105000"/>
              </a:lnSpc>
            </a:pPr>
            <a:r>
              <a:rPr sz="3200" b="1">
                <a:solidFill>
                  <a:srgbClr val="F5F6F7"/>
                </a:solidFill>
                <a:latin typeface="Segoe UI Semibold"/>
              </a:rPr>
              <a:t>A new search isn't a deployment. It's a block of configuration.</a:t>
            </a:r>
          </a:p>
        </p:txBody>
      </p:sp>
      <p:sp>
        <p:nvSpPr>
          <p:cNvPr id="5" name="rail_pill_0"/>
          <p:cNvSpPr/>
          <p:nvPr/>
        </p:nvSpPr>
        <p:spPr>
          <a:xfrm>
            <a:off x="1258671"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WHY</a:t>
            </a:r>
          </a:p>
        </p:txBody>
      </p:sp>
      <p:sp>
        <p:nvSpPr>
          <p:cNvPr id="6" name="rail_pill_1"/>
          <p:cNvSpPr/>
          <p:nvPr/>
        </p:nvSpPr>
        <p:spPr>
          <a:xfrm>
            <a:off x="3215487"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IDEA</a:t>
            </a:r>
          </a:p>
        </p:txBody>
      </p:sp>
      <p:sp>
        <p:nvSpPr>
          <p:cNvPr id="7" name="rail_pill_2"/>
          <p:cNvSpPr/>
          <p:nvPr/>
        </p:nvSpPr>
        <p:spPr>
          <a:xfrm>
            <a:off x="5172303"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WHAT</a:t>
            </a:r>
          </a:p>
        </p:txBody>
      </p:sp>
      <p:sp>
        <p:nvSpPr>
          <p:cNvPr id="8" name="rail_pill_3"/>
          <p:cNvSpPr/>
          <p:nvPr/>
        </p:nvSpPr>
        <p:spPr>
          <a:xfrm>
            <a:off x="7129119" y="6053328"/>
            <a:ext cx="1847088" cy="347472"/>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5F6F7"/>
                </a:solidFill>
                <a:latin typeface="Segoe UI Semibold"/>
              </a:rPr>
              <a:t>HOW</a:t>
            </a:r>
          </a:p>
        </p:txBody>
      </p:sp>
      <p:sp>
        <p:nvSpPr>
          <p:cNvPr id="9" name="rail_pill_4"/>
          <p:cNvSpPr/>
          <p:nvPr/>
        </p:nvSpPr>
        <p:spPr>
          <a:xfrm>
            <a:off x="9085935"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BENEFIT</a:t>
            </a:r>
          </a:p>
        </p:txBody>
      </p:sp>
      <p:pic>
        <p:nvPicPr>
          <p:cNvPr id="10" name="Picture 9" descr="databricks_logo.png"/>
          <p:cNvPicPr>
            <a:picLocks noChangeAspect="1"/>
          </p:cNvPicPr>
          <p:nvPr/>
        </p:nvPicPr>
        <p:blipFill>
          <a:blip r:embed="rId2"/>
          <a:stretch>
            <a:fillRect/>
          </a:stretch>
        </p:blipFill>
        <p:spPr>
          <a:xfrm>
            <a:off x="9646920" y="6446520"/>
            <a:ext cx="1524000" cy="256032"/>
          </a:xfrm>
          <a:prstGeom prst="rect">
            <a:avLst/>
          </a:prstGeom>
        </p:spPr>
      </p:pic>
      <p:pic>
        <p:nvPicPr>
          <p:cNvPr id="11" name="Picture 10" descr="optus_logo.png"/>
          <p:cNvPicPr>
            <a:picLocks noChangeAspect="1"/>
          </p:cNvPicPr>
          <p:nvPr/>
        </p:nvPicPr>
        <p:blipFill>
          <a:blip r:embed="rId3"/>
          <a:stretch>
            <a:fillRect/>
          </a:stretch>
        </p:blipFill>
        <p:spPr>
          <a:xfrm>
            <a:off x="11109960" y="6428232"/>
            <a:ext cx="1420427" cy="292608"/>
          </a:xfrm>
          <a:prstGeom prst="rect">
            <a:avLst/>
          </a:prstGeom>
        </p:spPr>
      </p:pic>
      <p:sp>
        <p:nvSpPr>
          <p:cNvPr id="12" name="TextBox 11"/>
          <p:cNvSpPr txBox="1"/>
          <p:nvPr/>
        </p:nvSpPr>
        <p:spPr>
          <a:xfrm>
            <a:off x="548640" y="2468880"/>
            <a:ext cx="6309360" cy="1097280"/>
          </a:xfrm>
          <a:prstGeom prst="rect">
            <a:avLst/>
          </a:prstGeom>
          <a:noFill/>
        </p:spPr>
        <p:txBody>
          <a:bodyPr wrap="square" anchor="t" lIns="0" rIns="0" tIns="0" bIns="0">
            <a:spAutoFit/>
          </a:bodyPr>
          <a:lstStyle/>
          <a:p>
            <a:pPr algn="l">
              <a:lnSpc>
                <a:spcPct val="110000"/>
              </a:lnSpc>
            </a:pPr>
            <a:r>
              <a:rPr sz="2300" b="1">
                <a:solidFill>
                  <a:srgbClr val="F5F6F7"/>
                </a:solidFill>
                <a:latin typeface="Segoe UI Semibold"/>
              </a:rPr>
              <a:t>The pivot: fully configuration-driven.</a:t>
            </a:r>
          </a:p>
        </p:txBody>
      </p:sp>
      <p:sp>
        <p:nvSpPr>
          <p:cNvPr id="13" name="Rounded Rectangle 12"/>
          <p:cNvSpPr/>
          <p:nvPr/>
        </p:nvSpPr>
        <p:spPr>
          <a:xfrm>
            <a:off x="548640" y="3794760"/>
            <a:ext cx="2084831" cy="1828800"/>
          </a:xfrm>
          <a:prstGeom prst="roundRect">
            <a:avLst>
              <a:gd name="adj" fmla="val 8000"/>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922776"/>
            <a:ext cx="1682495" cy="594360"/>
          </a:xfrm>
          <a:prstGeom prst="rect">
            <a:avLst/>
          </a:prstGeom>
          <a:noFill/>
        </p:spPr>
        <p:txBody>
          <a:bodyPr wrap="square" anchor="t" lIns="0" rIns="0" tIns="0" bIns="0">
            <a:spAutoFit/>
          </a:bodyPr>
          <a:lstStyle/>
          <a:p>
            <a:pPr algn="l">
              <a:lnSpc>
                <a:spcPct val="100000"/>
              </a:lnSpc>
            </a:pPr>
            <a:r>
              <a:rPr sz="3400" b="1">
                <a:solidFill>
                  <a:srgbClr val="FF3621"/>
                </a:solidFill>
                <a:latin typeface="Segoe UI Semibold"/>
              </a:rPr>
              <a:t>3 months</a:t>
            </a:r>
          </a:p>
        </p:txBody>
      </p:sp>
      <p:sp>
        <p:nvSpPr>
          <p:cNvPr id="15" name="TextBox 14"/>
          <p:cNvSpPr txBox="1"/>
          <p:nvPr/>
        </p:nvSpPr>
        <p:spPr>
          <a:xfrm>
            <a:off x="749808" y="5166360"/>
            <a:ext cx="1682495" cy="384048"/>
          </a:xfrm>
          <a:prstGeom prst="rect">
            <a:avLst/>
          </a:prstGeom>
          <a:noFill/>
        </p:spPr>
        <p:txBody>
          <a:bodyPr wrap="square" anchor="t" lIns="0" rIns="0" tIns="0" bIns="0">
            <a:spAutoFit/>
          </a:bodyPr>
          <a:lstStyle/>
          <a:p>
            <a:pPr algn="l">
              <a:lnSpc>
                <a:spcPct val="105000"/>
              </a:lnSpc>
            </a:pPr>
            <a:r>
              <a:rPr sz="1150" b="0">
                <a:solidFill>
                  <a:srgbClr val="9AA3AF"/>
                </a:solidFill>
                <a:latin typeface="Segoe UI"/>
              </a:rPr>
              <a:t>GA (May '25) → production (Aug '25)</a:t>
            </a:r>
          </a:p>
        </p:txBody>
      </p:sp>
      <p:sp>
        <p:nvSpPr>
          <p:cNvPr id="16" name="Rounded Rectangle 15"/>
          <p:cNvSpPr/>
          <p:nvPr/>
        </p:nvSpPr>
        <p:spPr>
          <a:xfrm>
            <a:off x="2798063" y="3794760"/>
            <a:ext cx="2084831" cy="1828800"/>
          </a:xfrm>
          <a:prstGeom prst="roundRect">
            <a:avLst>
              <a:gd name="adj" fmla="val 8000"/>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99231" y="3922776"/>
            <a:ext cx="1682495" cy="594360"/>
          </a:xfrm>
          <a:prstGeom prst="rect">
            <a:avLst/>
          </a:prstGeom>
          <a:noFill/>
        </p:spPr>
        <p:txBody>
          <a:bodyPr wrap="square" anchor="t" lIns="0" rIns="0" tIns="0" bIns="0">
            <a:spAutoFit/>
          </a:bodyPr>
          <a:lstStyle/>
          <a:p>
            <a:pPr algn="l">
              <a:lnSpc>
                <a:spcPct val="100000"/>
              </a:lnSpc>
            </a:pPr>
            <a:r>
              <a:rPr sz="3400" b="1">
                <a:solidFill>
                  <a:srgbClr val="FF3621"/>
                </a:solidFill>
                <a:latin typeface="Segoe UI Semibold"/>
              </a:rPr>
              <a:t>~10</a:t>
            </a:r>
          </a:p>
        </p:txBody>
      </p:sp>
      <p:sp>
        <p:nvSpPr>
          <p:cNvPr id="18" name="TextBox 17"/>
          <p:cNvSpPr txBox="1"/>
          <p:nvPr/>
        </p:nvSpPr>
        <p:spPr>
          <a:xfrm>
            <a:off x="2999231" y="5166360"/>
            <a:ext cx="1682495" cy="384048"/>
          </a:xfrm>
          <a:prstGeom prst="rect">
            <a:avLst/>
          </a:prstGeom>
          <a:noFill/>
        </p:spPr>
        <p:txBody>
          <a:bodyPr wrap="square" anchor="t" lIns="0" rIns="0" tIns="0" bIns="0">
            <a:spAutoFit/>
          </a:bodyPr>
          <a:lstStyle/>
          <a:p>
            <a:pPr algn="l">
              <a:lnSpc>
                <a:spcPct val="105000"/>
              </a:lnSpc>
            </a:pPr>
            <a:r>
              <a:rPr sz="1150" b="0">
                <a:solidFill>
                  <a:srgbClr val="9AA3AF"/>
                </a:solidFill>
                <a:latin typeface="Segoe UI"/>
              </a:rPr>
              <a:t>releases since — no ceiling found</a:t>
            </a:r>
          </a:p>
        </p:txBody>
      </p:sp>
      <p:sp>
        <p:nvSpPr>
          <p:cNvPr id="19" name="Rounded Rectangle 18"/>
          <p:cNvSpPr/>
          <p:nvPr/>
        </p:nvSpPr>
        <p:spPr>
          <a:xfrm>
            <a:off x="5047486" y="3794760"/>
            <a:ext cx="2084831" cy="1828800"/>
          </a:xfrm>
          <a:prstGeom prst="roundRect">
            <a:avLst>
              <a:gd name="adj" fmla="val 8000"/>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48654" y="3922776"/>
            <a:ext cx="1682495" cy="594360"/>
          </a:xfrm>
          <a:prstGeom prst="rect">
            <a:avLst/>
          </a:prstGeom>
          <a:noFill/>
        </p:spPr>
        <p:txBody>
          <a:bodyPr wrap="square" anchor="t" lIns="0" rIns="0" tIns="0" bIns="0">
            <a:spAutoFit/>
          </a:bodyPr>
          <a:lstStyle/>
          <a:p>
            <a:pPr algn="l">
              <a:lnSpc>
                <a:spcPct val="100000"/>
              </a:lnSpc>
            </a:pPr>
            <a:r>
              <a:rPr sz="3400" b="1">
                <a:solidFill>
                  <a:srgbClr val="FF3621"/>
                </a:solidFill>
                <a:latin typeface="Segoe UI Semibold"/>
              </a:rPr>
              <a:t>100+</a:t>
            </a:r>
          </a:p>
        </p:txBody>
      </p:sp>
      <p:sp>
        <p:nvSpPr>
          <p:cNvPr id="21" name="TextBox 20"/>
          <p:cNvSpPr txBox="1"/>
          <p:nvPr/>
        </p:nvSpPr>
        <p:spPr>
          <a:xfrm>
            <a:off x="5248654" y="5166360"/>
            <a:ext cx="1682495" cy="384048"/>
          </a:xfrm>
          <a:prstGeom prst="rect">
            <a:avLst/>
          </a:prstGeom>
          <a:noFill/>
        </p:spPr>
        <p:txBody>
          <a:bodyPr wrap="square" anchor="t" lIns="0" rIns="0" tIns="0" bIns="0">
            <a:spAutoFit/>
          </a:bodyPr>
          <a:lstStyle/>
          <a:p>
            <a:pPr algn="l">
              <a:lnSpc>
                <a:spcPct val="105000"/>
              </a:lnSpc>
            </a:pPr>
            <a:r>
              <a:rPr sz="1150" b="0">
                <a:solidFill>
                  <a:srgbClr val="9AA3AF"/>
                </a:solidFill>
                <a:latin typeface="Segoe UI"/>
              </a:rPr>
              <a:t>search screens, built by analysts</a:t>
            </a:r>
          </a:p>
        </p:txBody>
      </p:sp>
    </p:spTree>
  </p:cSld>
  <p:clrMapOvr>
    <a:masterClrMapping/>
  </p:clrMapOvr>
  <p:transition xmlns:p14="http://schemas.microsoft.com/office/powerpoint/2010/main" p14:dur="800" spd="slow">
    <mc:AlternateContent xmlns:mc="http://schemas.openxmlformats.org/markup-compatibility/2006">
      <mc:Choice xmlns:p159="http://schemas.microsoft.com/office/powerpoint/2015/09/main" Requires="p159">
        <p159:morph option="byObject"/>
      </mc:Choice>
      <mc:Fallback>
        <p:fade/>
      </mc:Fallback>
    </mc:AlternateContent>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5486400" cy="365760"/>
          </a:xfrm>
          <a:prstGeom prst="rect">
            <a:avLst/>
          </a:prstGeom>
          <a:noFill/>
        </p:spPr>
        <p:txBody>
          <a:bodyPr wrap="square" anchor="t" lIns="0" rIns="0" tIns="0" bIns="0">
            <a:spAutoFit/>
          </a:bodyPr>
          <a:lstStyle/>
          <a:p>
            <a:pPr algn="l">
              <a:lnSpc>
                <a:spcPct val="100000"/>
              </a:lnSpc>
            </a:pPr>
            <a:r>
              <a:rPr sz="1500" b="1">
                <a:solidFill>
                  <a:srgbClr val="FF3621"/>
                </a:solidFill>
                <a:latin typeface="Segoe UI Semibold"/>
              </a:rPr>
              <a:t>05 · BENEFIT</a:t>
            </a:r>
          </a:p>
        </p:txBody>
      </p:sp>
      <p:sp>
        <p:nvSpPr>
          <p:cNvPr id="3" name="Rectangle 2"/>
          <p:cNvSpPr/>
          <p:nvPr/>
        </p:nvSpPr>
        <p:spPr>
          <a:xfrm>
            <a:off x="548640" y="786384"/>
            <a:ext cx="1280160" cy="381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60120"/>
            <a:ext cx="10607040" cy="1188720"/>
          </a:xfrm>
          <a:prstGeom prst="rect">
            <a:avLst/>
          </a:prstGeom>
          <a:noFill/>
        </p:spPr>
        <p:txBody>
          <a:bodyPr wrap="square" anchor="t" lIns="0" rIns="0" tIns="0" bIns="0">
            <a:spAutoFit/>
          </a:bodyPr>
          <a:lstStyle/>
          <a:p>
            <a:pPr algn="l">
              <a:lnSpc>
                <a:spcPct val="105000"/>
              </a:lnSpc>
            </a:pPr>
            <a:r>
              <a:rPr sz="3200" b="1">
                <a:solidFill>
                  <a:srgbClr val="F5F6F7"/>
                </a:solidFill>
                <a:latin typeface="Segoe UI Semibold"/>
              </a:rPr>
              <a:t>The idea that started in five minutes is now how data gets accessed.</a:t>
            </a:r>
          </a:p>
        </p:txBody>
      </p:sp>
      <p:sp>
        <p:nvSpPr>
          <p:cNvPr id="5" name="rail_pill_0"/>
          <p:cNvSpPr/>
          <p:nvPr/>
        </p:nvSpPr>
        <p:spPr>
          <a:xfrm>
            <a:off x="1258671"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WHY</a:t>
            </a:r>
          </a:p>
        </p:txBody>
      </p:sp>
      <p:sp>
        <p:nvSpPr>
          <p:cNvPr id="6" name="rail_pill_1"/>
          <p:cNvSpPr/>
          <p:nvPr/>
        </p:nvSpPr>
        <p:spPr>
          <a:xfrm>
            <a:off x="3215487"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IDEA</a:t>
            </a:r>
          </a:p>
        </p:txBody>
      </p:sp>
      <p:sp>
        <p:nvSpPr>
          <p:cNvPr id="7" name="rail_pill_2"/>
          <p:cNvSpPr/>
          <p:nvPr/>
        </p:nvSpPr>
        <p:spPr>
          <a:xfrm>
            <a:off x="5172303"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WHAT</a:t>
            </a:r>
          </a:p>
        </p:txBody>
      </p:sp>
      <p:sp>
        <p:nvSpPr>
          <p:cNvPr id="8" name="rail_pill_3"/>
          <p:cNvSpPr/>
          <p:nvPr/>
        </p:nvSpPr>
        <p:spPr>
          <a:xfrm>
            <a:off x="7129119" y="6053328"/>
            <a:ext cx="1847088" cy="347472"/>
          </a:xfrm>
          <a:prstGeom prst="roundRect">
            <a:avLst>
              <a:gd name="adj" fmla="val 50000"/>
            </a:avLst>
          </a:prstGeom>
          <a:solidFill>
            <a:srgbClr val="171A22"/>
          </a:solidFill>
          <a:ln w="12700">
            <a:solidFill>
              <a:srgbClr val="3034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9AA3AF"/>
                </a:solidFill>
                <a:latin typeface="Segoe UI Semibold"/>
              </a:rPr>
              <a:t>HOW</a:t>
            </a:r>
          </a:p>
        </p:txBody>
      </p:sp>
      <p:sp>
        <p:nvSpPr>
          <p:cNvPr id="9" name="rail_pill_4"/>
          <p:cNvSpPr/>
          <p:nvPr/>
        </p:nvSpPr>
        <p:spPr>
          <a:xfrm>
            <a:off x="9085935" y="6053328"/>
            <a:ext cx="1847088" cy="347472"/>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5F6F7"/>
                </a:solidFill>
                <a:latin typeface="Segoe UI Semibold"/>
              </a:rPr>
              <a:t>BENEFIT</a:t>
            </a:r>
          </a:p>
        </p:txBody>
      </p:sp>
      <p:pic>
        <p:nvPicPr>
          <p:cNvPr id="10" name="Picture 9" descr="databricks_logo.png"/>
          <p:cNvPicPr>
            <a:picLocks noChangeAspect="1"/>
          </p:cNvPicPr>
          <p:nvPr/>
        </p:nvPicPr>
        <p:blipFill>
          <a:blip r:embed="rId2"/>
          <a:stretch>
            <a:fillRect/>
          </a:stretch>
        </p:blipFill>
        <p:spPr>
          <a:xfrm>
            <a:off x="9646920" y="6446520"/>
            <a:ext cx="1524000" cy="256032"/>
          </a:xfrm>
          <a:prstGeom prst="rect">
            <a:avLst/>
          </a:prstGeom>
        </p:spPr>
      </p:pic>
      <p:pic>
        <p:nvPicPr>
          <p:cNvPr id="11" name="Picture 10" descr="optus_logo.png"/>
          <p:cNvPicPr>
            <a:picLocks noChangeAspect="1"/>
          </p:cNvPicPr>
          <p:nvPr/>
        </p:nvPicPr>
        <p:blipFill>
          <a:blip r:embed="rId3"/>
          <a:stretch>
            <a:fillRect/>
          </a:stretch>
        </p:blipFill>
        <p:spPr>
          <a:xfrm>
            <a:off x="11109960" y="6428232"/>
            <a:ext cx="1420427" cy="292608"/>
          </a:xfrm>
          <a:prstGeom prst="rect">
            <a:avLst/>
          </a:prstGeom>
        </p:spPr>
      </p:pic>
      <p:sp>
        <p:nvSpPr>
          <p:cNvPr id="12" name="TextBox 11"/>
          <p:cNvSpPr txBox="1"/>
          <p:nvPr/>
        </p:nvSpPr>
        <p:spPr>
          <a:xfrm>
            <a:off x="548640" y="2423160"/>
            <a:ext cx="6492240" cy="2011680"/>
          </a:xfrm>
          <a:prstGeom prst="rect">
            <a:avLst/>
          </a:prstGeom>
          <a:noFill/>
        </p:spPr>
        <p:txBody>
          <a:bodyPr wrap="square" lIns="0" rIns="0" tIns="0" bIns="0">
            <a:spAutoFit/>
          </a:bodyPr>
          <a:lstStyle/>
          <a:p>
            <a:pPr>
              <a:lnSpc>
                <a:spcPct val="112000"/>
              </a:lnSpc>
              <a:spcAft>
                <a:spcPts val="1600"/>
              </a:spcAft>
            </a:pPr>
            <a:r>
              <a:rPr sz="1800" b="1">
                <a:solidFill>
                  <a:srgbClr val="FF3621"/>
                </a:solidFill>
                <a:latin typeface="Segoe UI"/>
              </a:rPr>
              <a:t>— </a:t>
            </a:r>
            <a:r>
              <a:rPr sz="1800">
                <a:solidFill>
                  <a:srgbClr val="F5F6F7"/>
                </a:solidFill>
                <a:latin typeface="Segoe UI"/>
              </a:rPr>
              <a:t>Non-technical users self-serve regulated data — no SQL, no ticket, no queue</a:t>
            </a:r>
          </a:p>
          <a:p>
            <a:pPr>
              <a:lnSpc>
                <a:spcPct val="112000"/>
              </a:lnSpc>
              <a:spcAft>
                <a:spcPts val="1600"/>
              </a:spcAft>
            </a:pPr>
            <a:r>
              <a:rPr sz="1800" b="1">
                <a:solidFill>
                  <a:srgbClr val="FF3621"/>
                </a:solidFill>
                <a:latin typeface="Segoe UI"/>
              </a:rPr>
              <a:t>— </a:t>
            </a:r>
            <a:r>
              <a:rPr sz="1800">
                <a:solidFill>
                  <a:srgbClr val="F5F6F7"/>
                </a:solidFill>
                <a:latin typeface="Segoe UI"/>
              </a:rPr>
              <a:t>Permissions enforced automatically — speed with nothing given up on governance</a:t>
            </a:r>
          </a:p>
        </p:txBody>
      </p:sp>
      <p:sp>
        <p:nvSpPr>
          <p:cNvPr id="13" name="Rounded Rectangle 12"/>
          <p:cNvSpPr/>
          <p:nvPr/>
        </p:nvSpPr>
        <p:spPr>
          <a:xfrm>
            <a:off x="7406640" y="2423160"/>
            <a:ext cx="1783080" cy="1371600"/>
          </a:xfrm>
          <a:prstGeom prst="roundRect">
            <a:avLst>
              <a:gd name="adj" fmla="val 8000"/>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7808" y="2551176"/>
            <a:ext cx="1380744" cy="594360"/>
          </a:xfrm>
          <a:prstGeom prst="rect">
            <a:avLst/>
          </a:prstGeom>
          <a:noFill/>
        </p:spPr>
        <p:txBody>
          <a:bodyPr wrap="square" anchor="t" lIns="0" rIns="0" tIns="0" bIns="0">
            <a:spAutoFit/>
          </a:bodyPr>
          <a:lstStyle/>
          <a:p>
            <a:pPr algn="l">
              <a:lnSpc>
                <a:spcPct val="100000"/>
              </a:lnSpc>
            </a:pPr>
            <a:r>
              <a:rPr sz="3400" b="1">
                <a:solidFill>
                  <a:srgbClr val="FF3621"/>
                </a:solidFill>
                <a:latin typeface="Segoe UI Semibold"/>
              </a:rPr>
              <a:t>100+</a:t>
            </a:r>
          </a:p>
        </p:txBody>
      </p:sp>
      <p:sp>
        <p:nvSpPr>
          <p:cNvPr id="15" name="TextBox 14"/>
          <p:cNvSpPr txBox="1"/>
          <p:nvPr/>
        </p:nvSpPr>
        <p:spPr>
          <a:xfrm>
            <a:off x="7607808" y="3337560"/>
            <a:ext cx="1380744" cy="384048"/>
          </a:xfrm>
          <a:prstGeom prst="rect">
            <a:avLst/>
          </a:prstGeom>
          <a:noFill/>
        </p:spPr>
        <p:txBody>
          <a:bodyPr wrap="square" anchor="t" lIns="0" rIns="0" tIns="0" bIns="0">
            <a:spAutoFit/>
          </a:bodyPr>
          <a:lstStyle/>
          <a:p>
            <a:pPr algn="l">
              <a:lnSpc>
                <a:spcPct val="105000"/>
              </a:lnSpc>
            </a:pPr>
            <a:r>
              <a:rPr sz="1150" b="0">
                <a:solidFill>
                  <a:srgbClr val="9AA3AF"/>
                </a:solidFill>
                <a:latin typeface="Segoe UI"/>
              </a:rPr>
              <a:t>analyst-built screens</a:t>
            </a:r>
          </a:p>
        </p:txBody>
      </p:sp>
      <p:sp>
        <p:nvSpPr>
          <p:cNvPr id="16" name="Rounded Rectangle 15"/>
          <p:cNvSpPr/>
          <p:nvPr/>
        </p:nvSpPr>
        <p:spPr>
          <a:xfrm>
            <a:off x="9372600" y="2423160"/>
            <a:ext cx="1783080" cy="1371600"/>
          </a:xfrm>
          <a:prstGeom prst="roundRect">
            <a:avLst>
              <a:gd name="adj" fmla="val 8000"/>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73768" y="2551176"/>
            <a:ext cx="1380744" cy="594360"/>
          </a:xfrm>
          <a:prstGeom prst="rect">
            <a:avLst/>
          </a:prstGeom>
          <a:noFill/>
        </p:spPr>
        <p:txBody>
          <a:bodyPr wrap="square" anchor="t" lIns="0" rIns="0" tIns="0" bIns="0">
            <a:spAutoFit/>
          </a:bodyPr>
          <a:lstStyle/>
          <a:p>
            <a:pPr algn="l">
              <a:lnSpc>
                <a:spcPct val="100000"/>
              </a:lnSpc>
            </a:pPr>
            <a:r>
              <a:rPr sz="3400" b="1">
                <a:solidFill>
                  <a:srgbClr val="FF3621"/>
                </a:solidFill>
                <a:latin typeface="Segoe UI Semibold"/>
              </a:rPr>
              <a:t>50+</a:t>
            </a:r>
          </a:p>
        </p:txBody>
      </p:sp>
      <p:sp>
        <p:nvSpPr>
          <p:cNvPr id="18" name="TextBox 17"/>
          <p:cNvSpPr txBox="1"/>
          <p:nvPr/>
        </p:nvSpPr>
        <p:spPr>
          <a:xfrm>
            <a:off x="9573768" y="3337560"/>
            <a:ext cx="1380744" cy="384048"/>
          </a:xfrm>
          <a:prstGeom prst="rect">
            <a:avLst/>
          </a:prstGeom>
          <a:noFill/>
        </p:spPr>
        <p:txBody>
          <a:bodyPr wrap="square" anchor="t" lIns="0" rIns="0" tIns="0" bIns="0">
            <a:spAutoFit/>
          </a:bodyPr>
          <a:lstStyle/>
          <a:p>
            <a:pPr algn="l">
              <a:lnSpc>
                <a:spcPct val="105000"/>
              </a:lnSpc>
            </a:pPr>
            <a:r>
              <a:rPr sz="1150" b="0">
                <a:solidFill>
                  <a:srgbClr val="9AA3AF"/>
                </a:solidFill>
                <a:latin typeface="Segoe UI"/>
              </a:rPr>
              <a:t>active users, climbing</a:t>
            </a:r>
          </a:p>
        </p:txBody>
      </p:sp>
      <p:sp>
        <p:nvSpPr>
          <p:cNvPr id="19" name="Rounded Rectangle 18"/>
          <p:cNvSpPr/>
          <p:nvPr/>
        </p:nvSpPr>
        <p:spPr>
          <a:xfrm>
            <a:off x="548640" y="4663440"/>
            <a:ext cx="10607040" cy="1097280"/>
          </a:xfrm>
          <a:prstGeom prst="roundRect">
            <a:avLst>
              <a:gd name="adj" fmla="val 12000"/>
            </a:avLst>
          </a:prstGeom>
          <a:solidFill>
            <a:srgbClr val="1A110E"/>
          </a:solidFill>
          <a:ln w="1270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4608"/>
            <a:ext cx="10058400" cy="731520"/>
          </a:xfrm>
          <a:prstGeom prst="rect">
            <a:avLst/>
          </a:prstGeom>
          <a:noFill/>
        </p:spPr>
        <p:txBody>
          <a:bodyPr wrap="square" anchor="ctr" lIns="0" rIns="0" tIns="0" bIns="0">
            <a:spAutoFit/>
          </a:bodyPr>
          <a:lstStyle/>
          <a:p>
            <a:pPr algn="l">
              <a:lnSpc>
                <a:spcPct val="100000"/>
              </a:lnSpc>
            </a:pPr>
            <a:r>
              <a:rPr sz="1700" b="1">
                <a:solidFill>
                  <a:srgbClr val="F5F6F7"/>
                </a:solidFill>
                <a:latin typeface="Segoe UI Semibold"/>
              </a:rPr>
              <a:t>NEXT → Ask unstructured data a question, like you'd ask a colleague.</a:t>
            </a:r>
          </a:p>
        </p:txBody>
      </p:sp>
    </p:spTree>
  </p:cSld>
  <p:clrMapOvr>
    <a:masterClrMapping/>
  </p:clrMapOvr>
  <p:transition xmlns:p14="http://schemas.microsoft.com/office/powerpoint/2010/main" p14:dur="800" spd="slow">
    <mc:AlternateContent xmlns:mc="http://schemas.openxmlformats.org/markup-compatibility/2006">
      <mc:Choice xmlns:p159="http://schemas.microsoft.com/office/powerpoint/2015/09/main" Requires="p159">
        <p159:morph option="byObject"/>
      </mc:Choice>
      <mc:Fallback>
        <p:fade/>
      </mc:Fallback>
    </mc:AlternateConten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